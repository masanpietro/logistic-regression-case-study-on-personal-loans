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7"/>
  </p:notesMasterIdLst>
  <p:handoutMasterIdLst>
    <p:handoutMasterId r:id="rId18"/>
  </p:handoutMasterIdLst>
  <p:sldIdLst>
    <p:sldId id="256" r:id="rId5"/>
    <p:sldId id="257" r:id="rId6"/>
    <p:sldId id="258" r:id="rId7"/>
    <p:sldId id="259" r:id="rId8"/>
    <p:sldId id="260" r:id="rId9"/>
    <p:sldId id="261" r:id="rId10"/>
    <p:sldId id="263" r:id="rId11"/>
    <p:sldId id="264" r:id="rId12"/>
    <p:sldId id="265" r:id="rId13"/>
    <p:sldId id="266" r:id="rId14"/>
    <p:sldId id="267" r:id="rId15"/>
    <p:sldId id="26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93A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38" autoAdjust="0"/>
    <p:restoredTop sz="95646" autoAdjust="0"/>
  </p:normalViewPr>
  <p:slideViewPr>
    <p:cSldViewPr snapToGrid="0">
      <p:cViewPr varScale="1">
        <p:scale>
          <a:sx n="106" d="100"/>
          <a:sy n="106" d="100"/>
        </p:scale>
        <p:origin x="798" y="96"/>
      </p:cViewPr>
      <p:guideLst/>
    </p:cSldViewPr>
  </p:slideViewPr>
  <p:outlineViewPr>
    <p:cViewPr>
      <p:scale>
        <a:sx n="33" d="100"/>
        <a:sy n="33" d="100"/>
      </p:scale>
      <p:origin x="0" y="-5760"/>
    </p:cViewPr>
  </p:outlineViewPr>
  <p:notesTextViewPr>
    <p:cViewPr>
      <p:scale>
        <a:sx n="1" d="1"/>
        <a:sy n="1" d="1"/>
      </p:scale>
      <p:origin x="0" y="0"/>
    </p:cViewPr>
  </p:notesTextViewPr>
  <p:sorterViewPr>
    <p:cViewPr varScale="1">
      <p:scale>
        <a:sx n="100" d="100"/>
        <a:sy n="100" d="100"/>
      </p:scale>
      <p:origin x="0" y="-7325"/>
    </p:cViewPr>
  </p:sorterViewPr>
  <p:notesViewPr>
    <p:cSldViewPr snapToGrid="0">
      <p:cViewPr varScale="1">
        <p:scale>
          <a:sx n="58" d="100"/>
          <a:sy n="58" d="100"/>
        </p:scale>
        <p:origin x="2371"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file:///C:\Users\masan\Downloads\2026__28Candidate_29_Personal_Loans_Case_Dataset.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bg1"/>
                </a:solidFill>
                <a:latin typeface="+mn-lt"/>
                <a:ea typeface="+mn-ea"/>
                <a:cs typeface="+mn-cs"/>
              </a:defRPr>
            </a:pPr>
            <a:r>
              <a:rPr lang="en-US"/>
              <a:t>Difference in Strategies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bg1"/>
              </a:solidFill>
              <a:latin typeface="+mn-lt"/>
              <a:ea typeface="+mn-ea"/>
              <a:cs typeface="+mn-cs"/>
            </a:defRPr>
          </a:pPr>
          <a:endParaRPr lang="en-US"/>
        </a:p>
      </c:txPr>
    </c:title>
    <c:autoTitleDeleted val="0"/>
    <c:plotArea>
      <c:layout/>
      <c:barChart>
        <c:barDir val="col"/>
        <c:grouping val="clustered"/>
        <c:varyColors val="0"/>
        <c:ser>
          <c:idx val="0"/>
          <c:order val="0"/>
          <c:spPr>
            <a:solidFill>
              <a:srgbClr val="00B050"/>
            </a:solidFill>
            <a:ln>
              <a:noFill/>
            </a:ln>
            <a:effectLst/>
          </c:spPr>
          <c:invertIfNegative val="0"/>
          <c:dPt>
            <c:idx val="0"/>
            <c:invertIfNegative val="0"/>
            <c:bubble3D val="0"/>
            <c:spPr>
              <a:solidFill>
                <a:srgbClr val="00B050"/>
              </a:solidFill>
              <a:ln>
                <a:noFill/>
              </a:ln>
              <a:effectLst/>
            </c:spPr>
            <c:extLst>
              <c:ext xmlns:c16="http://schemas.microsoft.com/office/drawing/2014/chart" uri="{C3380CC4-5D6E-409C-BE32-E72D297353CC}">
                <c16:uniqueId val="{00000001-3CA2-4659-9051-A78363E01D66}"/>
              </c:ext>
            </c:extLst>
          </c:dPt>
          <c:dPt>
            <c:idx val="1"/>
            <c:invertIfNegative val="0"/>
            <c:bubble3D val="0"/>
            <c:spPr>
              <a:solidFill>
                <a:srgbClr val="C00000"/>
              </a:solidFill>
              <a:ln>
                <a:noFill/>
              </a:ln>
              <a:effectLst/>
            </c:spPr>
            <c:extLst>
              <c:ext xmlns:c16="http://schemas.microsoft.com/office/drawing/2014/chart" uri="{C3380CC4-5D6E-409C-BE32-E72D297353CC}">
                <c16:uniqueId val="{00000003-3CA2-4659-9051-A78363E01D66}"/>
              </c:ext>
            </c:extLst>
          </c:dPt>
          <c:cat>
            <c:strRef>
              <c:f>Sheet2!$A$3:$B$3</c:f>
              <c:strCache>
                <c:ptCount val="2"/>
                <c:pt idx="0">
                  <c:v>Back-tested Bounty Revenue using Logistic Regression Model for Assignment</c:v>
                </c:pt>
                <c:pt idx="1">
                  <c:v>Previous Bounty Revenue</c:v>
                </c:pt>
              </c:strCache>
            </c:strRef>
          </c:cat>
          <c:val>
            <c:numRef>
              <c:f>Sheet2!$A$4:$B$4</c:f>
              <c:numCache>
                <c:formatCode>General</c:formatCode>
                <c:ptCount val="2"/>
                <c:pt idx="0">
                  <c:v>3564810</c:v>
                </c:pt>
                <c:pt idx="1">
                  <c:v>2642200</c:v>
                </c:pt>
              </c:numCache>
            </c:numRef>
          </c:val>
          <c:extLst>
            <c:ext xmlns:c16="http://schemas.microsoft.com/office/drawing/2014/chart" uri="{C3380CC4-5D6E-409C-BE32-E72D297353CC}">
              <c16:uniqueId val="{00000004-3CA2-4659-9051-A78363E01D66}"/>
            </c:ext>
          </c:extLst>
        </c:ser>
        <c:dLbls>
          <c:showLegendKey val="0"/>
          <c:showVal val="0"/>
          <c:showCatName val="0"/>
          <c:showSerName val="0"/>
          <c:showPercent val="0"/>
          <c:showBubbleSize val="0"/>
        </c:dLbls>
        <c:gapWidth val="219"/>
        <c:overlap val="-27"/>
        <c:axId val="1553560352"/>
        <c:axId val="1553560832"/>
      </c:barChart>
      <c:catAx>
        <c:axId val="15535603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553560832"/>
        <c:crosses val="autoZero"/>
        <c:auto val="1"/>
        <c:lblAlgn val="ctr"/>
        <c:lblOffset val="100"/>
        <c:noMultiLvlLbl val="0"/>
      </c:catAx>
      <c:valAx>
        <c:axId val="155356083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5535603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1"/>
          </a:solidFill>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FB8B65A-D69F-C26C-B67E-036EF77BF1F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652B9064-AE57-427F-E5AF-71DE7D52FE6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D8190EA-5EEC-4300-B6AE-D9734C6C648E}" type="datetimeFigureOut">
              <a:rPr lang="en-US" smtClean="0"/>
              <a:t>1/20/2026</a:t>
            </a:fld>
            <a:endParaRPr lang="en-US" dirty="0"/>
          </a:p>
        </p:txBody>
      </p:sp>
      <p:sp>
        <p:nvSpPr>
          <p:cNvPr id="4" name="Footer Placeholder 3">
            <a:extLst>
              <a:ext uri="{FF2B5EF4-FFF2-40B4-BE49-F238E27FC236}">
                <a16:creationId xmlns:a16="http://schemas.microsoft.com/office/drawing/2014/main" id="{8186157A-CEB9-B0FC-3A49-BE950AEAD6F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E0819CA0-A57D-42D7-A625-56C22D0FA7C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AFF3A6F-DEFA-45E0-9496-BEE7C2C6F3D0}" type="slidenum">
              <a:rPr lang="en-US" smtClean="0"/>
              <a:t>‹#›</a:t>
            </a:fld>
            <a:endParaRPr lang="en-US" dirty="0"/>
          </a:p>
        </p:txBody>
      </p:sp>
    </p:spTree>
    <p:extLst>
      <p:ext uri="{BB962C8B-B14F-4D97-AF65-F5344CB8AC3E}">
        <p14:creationId xmlns:p14="http://schemas.microsoft.com/office/powerpoint/2010/main" val="1406002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87ADD9-2083-264C-A652-8D52D02F7E72}" type="datetimeFigureOut">
              <a:rPr lang="en-US" smtClean="0"/>
              <a:t>1/20/2026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7DC217-DF71-1A49-B3EA-559F1F43B0FF}" type="slidenum">
              <a:rPr lang="en-US" smtClean="0"/>
              <a:t>‹#›</a:t>
            </a:fld>
            <a:endParaRPr lang="en-US" dirty="0"/>
          </a:p>
        </p:txBody>
      </p:sp>
    </p:spTree>
    <p:extLst>
      <p:ext uri="{BB962C8B-B14F-4D97-AF65-F5344CB8AC3E}">
        <p14:creationId xmlns:p14="http://schemas.microsoft.com/office/powerpoint/2010/main" val="2846425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a:t>
            </a:fld>
            <a:endParaRPr lang="en-US" dirty="0"/>
          </a:p>
        </p:txBody>
      </p:sp>
    </p:spTree>
    <p:extLst>
      <p:ext uri="{BB962C8B-B14F-4D97-AF65-F5344CB8AC3E}">
        <p14:creationId xmlns:p14="http://schemas.microsoft.com/office/powerpoint/2010/main" val="21693858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2</a:t>
            </a:fld>
            <a:endParaRPr lang="en-US" dirty="0"/>
          </a:p>
        </p:txBody>
      </p:sp>
    </p:spTree>
    <p:extLst>
      <p:ext uri="{BB962C8B-B14F-4D97-AF65-F5344CB8AC3E}">
        <p14:creationId xmlns:p14="http://schemas.microsoft.com/office/powerpoint/2010/main" val="29152478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AC79249-FDC0-364D-A734-AE1DE1605D28}"/>
              </a:ext>
              <a:ext uri="{C183D7F6-B498-43B3-948B-1728B52AA6E4}">
                <adec:decorative xmlns:adec="http://schemas.microsoft.com/office/drawing/2017/decorative" val="1"/>
              </a:ext>
            </a:extLst>
          </p:cNvPr>
          <p:cNvSpPr/>
          <p:nvPr userDrawn="1"/>
        </p:nvSpPr>
        <p:spPr>
          <a:xfrm>
            <a:off x="0" y="4572000"/>
            <a:ext cx="12192000" cy="228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6">
            <a:extLst>
              <a:ext uri="{FF2B5EF4-FFF2-40B4-BE49-F238E27FC236}">
                <a16:creationId xmlns:a16="http://schemas.microsoft.com/office/drawing/2014/main" id="{13537B6D-42A5-F449-2691-321A167F7C08}"/>
              </a:ext>
              <a:ext uri="{C183D7F6-B498-43B3-948B-1728B52AA6E4}">
                <adec:decorative xmlns:adec="http://schemas.microsoft.com/office/drawing/2017/decorative" val="1"/>
              </a:ext>
            </a:extLst>
          </p:cNvPr>
          <p:cNvGrpSpPr/>
          <p:nvPr userDrawn="1"/>
        </p:nvGrpSpPr>
        <p:grpSpPr>
          <a:xfrm>
            <a:off x="0" y="-3419"/>
            <a:ext cx="12192000" cy="6861419"/>
            <a:chOff x="0" y="-3419"/>
            <a:chExt cx="12192000" cy="6861419"/>
          </a:xfrm>
        </p:grpSpPr>
        <p:sp>
          <p:nvSpPr>
            <p:cNvPr id="5" name="Oval 4">
              <a:extLst>
                <a:ext uri="{FF2B5EF4-FFF2-40B4-BE49-F238E27FC236}">
                  <a16:creationId xmlns:a16="http://schemas.microsoft.com/office/drawing/2014/main" id="{902465C8-266D-104C-9C49-323DF4A8277E}"/>
                </a:ext>
              </a:extLst>
            </p:cNvPr>
            <p:cNvSpPr/>
            <p:nvPr userDrawn="1"/>
          </p:nvSpPr>
          <p:spPr>
            <a:xfrm>
              <a:off x="583746" y="4960030"/>
              <a:ext cx="1551214" cy="1551214"/>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10">
              <a:extLst>
                <a:ext uri="{FF2B5EF4-FFF2-40B4-BE49-F238E27FC236}">
                  <a16:creationId xmlns:a16="http://schemas.microsoft.com/office/drawing/2014/main" id="{37979A1C-BF60-B345-A664-2E4F7A3461EB}"/>
                </a:ext>
              </a:extLst>
            </p:cNvPr>
            <p:cNvSpPr/>
            <p:nvPr userDrawn="1"/>
          </p:nvSpPr>
          <p:spPr>
            <a:xfrm>
              <a:off x="1" y="4571999"/>
              <a:ext cx="1118508" cy="1118508"/>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8">
              <a:extLst>
                <a:ext uri="{FF2B5EF4-FFF2-40B4-BE49-F238E27FC236}">
                  <a16:creationId xmlns:a16="http://schemas.microsoft.com/office/drawing/2014/main" id="{58080B3E-915C-2D4C-8608-596E1BFD6387}"/>
                </a:ext>
              </a:extLst>
            </p:cNvPr>
            <p:cNvSpPr/>
            <p:nvPr userDrawn="1"/>
          </p:nvSpPr>
          <p:spPr>
            <a:xfrm>
              <a:off x="1" y="5739492"/>
              <a:ext cx="1118508" cy="1118508"/>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6" name="Group 5">
              <a:extLst>
                <a:ext uri="{FF2B5EF4-FFF2-40B4-BE49-F238E27FC236}">
                  <a16:creationId xmlns:a16="http://schemas.microsoft.com/office/drawing/2014/main" id="{F15FBB50-09C8-B64E-AE57-67C5E70810CB}"/>
                </a:ext>
              </a:extLst>
            </p:cNvPr>
            <p:cNvGrpSpPr/>
            <p:nvPr userDrawn="1"/>
          </p:nvGrpSpPr>
          <p:grpSpPr>
            <a:xfrm>
              <a:off x="8264427" y="-3419"/>
              <a:ext cx="3927573" cy="3165022"/>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2" name="Freeform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27">
              <a:extLst>
                <a:ext uri="{FF2B5EF4-FFF2-40B4-BE49-F238E27FC236}">
                  <a16:creationId xmlns:a16="http://schemas.microsoft.com/office/drawing/2014/main" id="{9E240E8A-950E-7946-826C-415CB5DACA43}"/>
                </a:ext>
              </a:extLst>
            </p:cNvPr>
            <p:cNvSpPr/>
            <p:nvPr userDrawn="1"/>
          </p:nvSpPr>
          <p:spPr>
            <a:xfrm>
              <a:off x="11024507" y="4580708"/>
              <a:ext cx="1167493" cy="2277292"/>
            </a:xfrm>
            <a:custGeom>
              <a:avLst/>
              <a:gdLst>
                <a:gd name="connsiteX0" fmla="*/ 1167473 w 1167493"/>
                <a:gd name="connsiteY0" fmla="*/ 0 h 2272167"/>
                <a:gd name="connsiteX1" fmla="*/ 1167493 w 1167493"/>
                <a:gd name="connsiteY1" fmla="*/ 0 h 2272167"/>
                <a:gd name="connsiteX2" fmla="*/ 1167493 w 1167493"/>
                <a:gd name="connsiteY2" fmla="*/ 492960 h 2272167"/>
                <a:gd name="connsiteX3" fmla="*/ 1167493 w 1167493"/>
                <a:gd name="connsiteY3" fmla="*/ 720385 h 2272167"/>
                <a:gd name="connsiteX4" fmla="*/ 1167493 w 1167493"/>
                <a:gd name="connsiteY4" fmla="*/ 2272167 h 2272167"/>
                <a:gd name="connsiteX5" fmla="*/ 0 w 1167493"/>
                <a:gd name="connsiteY5" fmla="*/ 2272167 h 2272167"/>
                <a:gd name="connsiteX6" fmla="*/ 0 w 1167493"/>
                <a:gd name="connsiteY6" fmla="*/ 1898074 h 2272167"/>
                <a:gd name="connsiteX7" fmla="*/ 0 w 1167493"/>
                <a:gd name="connsiteY7" fmla="*/ 1271597 h 2272167"/>
                <a:gd name="connsiteX8" fmla="*/ 0 w 1167493"/>
                <a:gd name="connsiteY8" fmla="*/ 1177688 h 2272167"/>
                <a:gd name="connsiteX9" fmla="*/ 1048124 w 1167493"/>
                <a:gd name="connsiteY9" fmla="*/ 6080 h 2272167"/>
                <a:gd name="connsiteX10" fmla="*/ 1167473 w 1167493"/>
                <a:gd name="connsiteY10" fmla="*/ 0 h 2272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67493" h="2272167">
                  <a:moveTo>
                    <a:pt x="1167473" y="0"/>
                  </a:moveTo>
                  <a:lnTo>
                    <a:pt x="1167493" y="0"/>
                  </a:lnTo>
                  <a:lnTo>
                    <a:pt x="1167493" y="492960"/>
                  </a:lnTo>
                  <a:lnTo>
                    <a:pt x="1167493" y="720385"/>
                  </a:lnTo>
                  <a:lnTo>
                    <a:pt x="1167493" y="2272167"/>
                  </a:lnTo>
                  <a:lnTo>
                    <a:pt x="0" y="2272167"/>
                  </a:lnTo>
                  <a:lnTo>
                    <a:pt x="0" y="1898074"/>
                  </a:lnTo>
                  <a:lnTo>
                    <a:pt x="0" y="1271597"/>
                  </a:lnTo>
                  <a:lnTo>
                    <a:pt x="0" y="1177688"/>
                  </a:lnTo>
                  <a:cubicBezTo>
                    <a:pt x="0" y="567919"/>
                    <a:pt x="459408" y="66389"/>
                    <a:pt x="1048124" y="6080"/>
                  </a:cubicBezTo>
                  <a:lnTo>
                    <a:pt x="116747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3" y="232913"/>
            <a:ext cx="7096933" cy="3830130"/>
          </a:xfrm>
        </p:spPr>
        <p:txBody>
          <a:bodyPr anchor="b">
            <a:noAutofit/>
          </a:bodyPr>
          <a:lstStyle>
            <a:lvl1pPr algn="l">
              <a:defRPr sz="6000" b="1">
                <a:latin typeface="+mj-lt"/>
              </a:defRPr>
            </a:lvl1pPr>
          </a:lstStyle>
          <a:p>
            <a:r>
              <a:rPr lang="en-US" dirty="0"/>
              <a:t>Click to add title</a:t>
            </a:r>
          </a:p>
        </p:txBody>
      </p:sp>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6" name="Freeform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58864" y="102021"/>
            <a:ext cx="9779183" cy="1744415"/>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58865" y="2017467"/>
            <a:ext cx="9779182" cy="3366815"/>
          </a:xfrm>
        </p:spPr>
        <p:txBody>
          <a:bodyPr>
            <a:norm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782271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2">
    <p:bg>
      <p:bgPr>
        <a:solidFill>
          <a:schemeClr val="accent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CEDB282-8288-C81F-52B5-048A3E80C931}"/>
              </a:ext>
              <a:ext uri="{C183D7F6-B498-43B3-948B-1728B52AA6E4}">
                <adec:decorative xmlns:adec="http://schemas.microsoft.com/office/drawing/2017/decorative" val="1"/>
              </a:ext>
            </a:extLst>
          </p:cNvPr>
          <p:cNvGrpSpPr/>
          <p:nvPr userDrawn="1"/>
        </p:nvGrpSpPr>
        <p:grpSpPr>
          <a:xfrm>
            <a:off x="0" y="-1"/>
            <a:ext cx="12208822" cy="6858003"/>
            <a:chOff x="0" y="-1"/>
            <a:chExt cx="12208822" cy="6858003"/>
          </a:xfrm>
        </p:grpSpPr>
        <p:sp>
          <p:nvSpPr>
            <p:cNvPr id="7" name="Rectangle 6">
              <a:extLst>
                <a:ext uri="{FF2B5EF4-FFF2-40B4-BE49-F238E27FC236}">
                  <a16:creationId xmlns:a16="http://schemas.microsoft.com/office/drawing/2014/main" id="{2A62587F-7496-384A-AF40-18FC8CF0709D}"/>
                </a:ext>
              </a:extLst>
            </p:cNvPr>
            <p:cNvSpPr/>
            <p:nvPr userDrawn="1"/>
          </p:nvSpPr>
          <p:spPr>
            <a:xfrm>
              <a:off x="0" y="2286002"/>
              <a:ext cx="1220882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11">
              <a:extLst>
                <a:ext uri="{FF2B5EF4-FFF2-40B4-BE49-F238E27FC236}">
                  <a16:creationId xmlns:a16="http://schemas.microsoft.com/office/drawing/2014/main" id="{84DB028B-A475-224B-B675-A15A56CAD0BF}"/>
                </a:ext>
              </a:extLst>
            </p:cNvPr>
            <p:cNvSpPr/>
            <p:nvPr userDrawn="1"/>
          </p:nvSpPr>
          <p:spPr>
            <a:xfrm flipH="1">
              <a:off x="8597718"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61C34955-105B-4D4D-B51D-754C5D38A85D}"/>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14">
              <a:extLst>
                <a:ext uri="{FF2B5EF4-FFF2-40B4-BE49-F238E27FC236}">
                  <a16:creationId xmlns:a16="http://schemas.microsoft.com/office/drawing/2014/main" id="{2734DEB1-EC02-2E42-9292-4ADD115060A5}"/>
                </a:ext>
              </a:extLst>
            </p:cNvPr>
            <p:cNvSpPr/>
            <p:nvPr userDrawn="1"/>
          </p:nvSpPr>
          <p:spPr>
            <a:xfrm rot="5400000" flipH="1" flipV="1">
              <a:off x="10344100" y="438098"/>
              <a:ext cx="2285999" cy="1409801"/>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3" name="Title 1">
            <a:extLst>
              <a:ext uri="{FF2B5EF4-FFF2-40B4-BE49-F238E27FC236}">
                <a16:creationId xmlns:a16="http://schemas.microsoft.com/office/drawing/2014/main" id="{5E932F0D-7FC3-634B-932C-3625C16C8DE2}"/>
              </a:ext>
            </a:extLst>
          </p:cNvPr>
          <p:cNvSpPr>
            <a:spLocks noGrp="1"/>
          </p:cNvSpPr>
          <p:nvPr>
            <p:ph type="title" hasCustomPrompt="1"/>
          </p:nvPr>
        </p:nvSpPr>
        <p:spPr>
          <a:xfrm>
            <a:off x="1167492" y="45085"/>
            <a:ext cx="9779183" cy="1600835"/>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CA1EED44-783E-8705-4119-D7E9F7D4F2B4}"/>
              </a:ext>
            </a:extLst>
          </p:cNvPr>
          <p:cNvSpPr>
            <a:spLocks noGrp="1"/>
          </p:cNvSpPr>
          <p:nvPr>
            <p:ph idx="14" hasCustomPrompt="1"/>
          </p:nvPr>
        </p:nvSpPr>
        <p:spPr>
          <a:xfrm>
            <a:off x="1166087" y="2652713"/>
            <a:ext cx="9780587" cy="3436936"/>
          </a:xfrm>
        </p:spPr>
        <p:txBody>
          <a:bodyPr>
            <a:normAutofit/>
          </a:bodyPr>
          <a:lstStyle>
            <a:lvl1pPr marL="342900" indent="-283464">
              <a:spcBef>
                <a:spcPts val="1000"/>
              </a:spcBef>
              <a:buFont typeface="Arial" panose="020B0604020202020204" pitchFamily="34" charset="0"/>
              <a:buChar char="•"/>
              <a:defRPr sz="2000">
                <a:solidFill>
                  <a:schemeClr val="bg1"/>
                </a:solidFill>
                <a:latin typeface="+mn-lt"/>
              </a:defRPr>
            </a:lvl1pPr>
            <a:lvl2pPr marL="566928" indent="-283464">
              <a:spcBef>
                <a:spcPts val="1000"/>
              </a:spcBef>
              <a:buFont typeface="Arial" panose="020B0604020202020204" pitchFamily="34" charset="0"/>
              <a:buChar char="•"/>
              <a:defRPr sz="2000">
                <a:solidFill>
                  <a:schemeClr val="bg1"/>
                </a:solidFill>
                <a:latin typeface="+mn-lt"/>
              </a:defRPr>
            </a:lvl2pPr>
            <a:lvl3pPr marL="850392" indent="-283464">
              <a:spcBef>
                <a:spcPts val="1000"/>
              </a:spcBef>
              <a:buFont typeface="Arial" panose="020B0604020202020204" pitchFamily="34" charset="0"/>
              <a:buChar char="•"/>
              <a:defRPr sz="2000">
                <a:solidFill>
                  <a:schemeClr val="bg1"/>
                </a:solidFill>
                <a:latin typeface="+mn-lt"/>
              </a:defRPr>
            </a:lvl3pPr>
            <a:lvl4pPr marL="1097280" indent="-283464">
              <a:spcBef>
                <a:spcPts val="1000"/>
              </a:spcBef>
              <a:buFont typeface="Arial" panose="020B0604020202020204" pitchFamily="34" charset="0"/>
              <a:buChar char="•"/>
              <a:defRPr sz="2000">
                <a:solidFill>
                  <a:schemeClr val="bg1"/>
                </a:solidFill>
                <a:latin typeface="+mn-lt"/>
              </a:defRPr>
            </a:lvl4pPr>
            <a:lvl5pPr marL="1371600" indent="-283464">
              <a:spcBef>
                <a:spcPts val="1000"/>
              </a:spcBef>
              <a:buFont typeface="Arial" panose="020B0604020202020204" pitchFamily="34" charset="0"/>
              <a:buChar char="•"/>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E95D4F5-F69B-42F6-8A9D-330F696E144B}"/>
              </a:ext>
            </a:extLst>
          </p:cNvPr>
          <p:cNvSpPr>
            <a:spLocks noGrp="1"/>
          </p:cNvSpPr>
          <p:nvPr>
            <p:ph type="dt" sz="half" idx="10"/>
          </p:nvPr>
        </p:nvSpPr>
        <p:spPr/>
        <p:txBody>
          <a:bodyPr>
            <a:noAutofit/>
          </a:bodyPr>
          <a:lstStyle>
            <a:lvl1pPr>
              <a:defRPr>
                <a:solidFill>
                  <a:schemeClr val="accent2"/>
                </a:solidFill>
                <a:latin typeface="+mn-lt"/>
              </a:defRPr>
            </a:lvl1pPr>
          </a:lstStyle>
          <a:p>
            <a:r>
              <a:rPr lang="en-US" dirty="0"/>
              <a:t>9/8/20XX</a:t>
            </a:r>
          </a:p>
        </p:txBody>
      </p:sp>
      <p:sp>
        <p:nvSpPr>
          <p:cNvPr id="5" name="Footer Placeholder 4">
            <a:extLst>
              <a:ext uri="{FF2B5EF4-FFF2-40B4-BE49-F238E27FC236}">
                <a16:creationId xmlns:a16="http://schemas.microsoft.com/office/drawing/2014/main" id="{FA79A23A-2238-4904-8692-9F2DAE8B8FC9}"/>
              </a:ext>
            </a:extLst>
          </p:cNvPr>
          <p:cNvSpPr>
            <a:spLocks noGrp="1"/>
          </p:cNvSpPr>
          <p:nvPr>
            <p:ph type="ftr" sz="quarter" idx="11"/>
          </p:nvPr>
        </p:nvSpPr>
        <p:spPr/>
        <p:txBody>
          <a:bodyPr>
            <a:noAutofit/>
          </a:bodyPr>
          <a:lstStyle>
            <a:lvl1pPr>
              <a:defRPr>
                <a:solidFill>
                  <a:schemeClr val="accent2"/>
                </a:solidFill>
                <a:latin typeface="+mn-lt"/>
              </a:defRPr>
            </a:lvl1pPr>
          </a:lstStyle>
          <a:p>
            <a:endParaRPr lang="en-US" dirty="0"/>
          </a:p>
        </p:txBody>
      </p:sp>
      <p:sp>
        <p:nvSpPr>
          <p:cNvPr id="6" name="Slide Number Placeholder 5">
            <a:extLst>
              <a:ext uri="{FF2B5EF4-FFF2-40B4-BE49-F238E27FC236}">
                <a16:creationId xmlns:a16="http://schemas.microsoft.com/office/drawing/2014/main" id="{DB69FC35-DDC8-45FB-8ACB-21C15F57C1F1}"/>
              </a:ext>
            </a:extLst>
          </p:cNvPr>
          <p:cNvSpPr>
            <a:spLocks noGrp="1"/>
          </p:cNvSpPr>
          <p:nvPr>
            <p:ph type="sldNum" sz="quarter" idx="12"/>
          </p:nvPr>
        </p:nvSpPr>
        <p:spPr>
          <a:xfrm>
            <a:off x="10206318" y="6356350"/>
            <a:ext cx="1604682" cy="365125"/>
          </a:xfrm>
        </p:spPr>
        <p:txBody>
          <a:bodyPr>
            <a:noAutofit/>
          </a:bodyPr>
          <a:lstStyle>
            <a:lvl1pPr>
              <a:defRPr>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8831769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Section title">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5FBCE6F-2AA9-31FE-8148-33B480735599}"/>
              </a:ext>
              <a:ext uri="{C183D7F6-B498-43B3-948B-1728B52AA6E4}">
                <adec:decorative xmlns:adec="http://schemas.microsoft.com/office/drawing/2017/decorative" val="1"/>
              </a:ext>
            </a:extLst>
          </p:cNvPr>
          <p:cNvGrpSpPr/>
          <p:nvPr userDrawn="1"/>
        </p:nvGrpSpPr>
        <p:grpSpPr>
          <a:xfrm>
            <a:off x="0" y="0"/>
            <a:ext cx="12192000" cy="6858000"/>
            <a:chOff x="0" y="0"/>
            <a:chExt cx="12192000" cy="6858000"/>
          </a:xfrm>
        </p:grpSpPr>
        <p:sp>
          <p:nvSpPr>
            <p:cNvPr id="23" name="Freeform 22">
              <a:extLst>
                <a:ext uri="{FF2B5EF4-FFF2-40B4-BE49-F238E27FC236}">
                  <a16:creationId xmlns:a16="http://schemas.microsoft.com/office/drawing/2014/main" id="{067EACEC-C2DD-EA42-8504-176673AD1F20}"/>
                </a:ext>
              </a:extLst>
            </p:cNvPr>
            <p:cNvSpPr/>
            <p:nvPr userDrawn="1"/>
          </p:nvSpPr>
          <p:spPr>
            <a:xfrm>
              <a:off x="0" y="0"/>
              <a:ext cx="8025490" cy="6858000"/>
            </a:xfrm>
            <a:custGeom>
              <a:avLst/>
              <a:gdLst>
                <a:gd name="connsiteX0" fmla="*/ 0 w 8025490"/>
                <a:gd name="connsiteY0" fmla="*/ 0 h 6858000"/>
                <a:gd name="connsiteX1" fmla="*/ 4596490 w 8025490"/>
                <a:gd name="connsiteY1" fmla="*/ 0 h 6858000"/>
                <a:gd name="connsiteX2" fmla="*/ 8025490 w 8025490"/>
                <a:gd name="connsiteY2" fmla="*/ 3429000 h 6858000"/>
                <a:gd name="connsiteX3" fmla="*/ 4596490 w 8025490"/>
                <a:gd name="connsiteY3" fmla="*/ 6858000 h 6858000"/>
                <a:gd name="connsiteX4" fmla="*/ 0 w 802549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5490" h="6858000">
                  <a:moveTo>
                    <a:pt x="0" y="0"/>
                  </a:moveTo>
                  <a:lnTo>
                    <a:pt x="4596490" y="0"/>
                  </a:lnTo>
                  <a:cubicBezTo>
                    <a:pt x="6490274" y="0"/>
                    <a:pt x="8025490" y="1535216"/>
                    <a:pt x="8025490" y="3429000"/>
                  </a:cubicBezTo>
                  <a:cubicBezTo>
                    <a:pt x="8025490" y="5322784"/>
                    <a:pt x="6490274" y="6858000"/>
                    <a:pt x="4596490" y="6858000"/>
                  </a:cubicBez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6" name="Group 5">
              <a:extLst>
                <a:ext uri="{FF2B5EF4-FFF2-40B4-BE49-F238E27FC236}">
                  <a16:creationId xmlns:a16="http://schemas.microsoft.com/office/drawing/2014/main" id="{89843C7E-5704-7A46-8974-F3BFA42E7310}"/>
                </a:ext>
              </a:extLst>
            </p:cNvPr>
            <p:cNvGrpSpPr/>
            <p:nvPr userDrawn="1"/>
          </p:nvGrpSpPr>
          <p:grpSpPr>
            <a:xfrm rot="16200000">
              <a:off x="8286528" y="2207195"/>
              <a:ext cx="3032351" cy="2443610"/>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7" name="Freeform 16">
              <a:extLst>
                <a:ext uri="{FF2B5EF4-FFF2-40B4-BE49-F238E27FC236}">
                  <a16:creationId xmlns:a16="http://schemas.microsoft.com/office/drawing/2014/main" id="{0B179973-08D2-EF40-B516-35E75E906394}"/>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17">
              <a:extLst>
                <a:ext uri="{FF2B5EF4-FFF2-40B4-BE49-F238E27FC236}">
                  <a16:creationId xmlns:a16="http://schemas.microsoft.com/office/drawing/2014/main" id="{6C811FF3-E48A-194D-8022-65F8C3A17449}"/>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177553"/>
            <a:ext cx="6245912" cy="3269447"/>
          </a:xfrm>
        </p:spPr>
        <p:txBody>
          <a:bodyPr bIns="0" anchor="b">
            <a:noAutofit/>
          </a:bodyPr>
          <a:lstStyle>
            <a:lvl1pPr algn="l">
              <a:defRPr sz="6000" b="1">
                <a:solidFill>
                  <a:schemeClr val="bg1"/>
                </a:solidFill>
                <a:latin typeface="+mj-lt"/>
              </a:defRPr>
            </a:lvl1pPr>
          </a:lstStyle>
          <a:p>
            <a:r>
              <a:rPr lang="en-US" dirty="0"/>
              <a:t>Click to add title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4" y="3492896"/>
            <a:ext cx="6245912" cy="912850"/>
          </a:xfrm>
        </p:spPr>
        <p:txBody>
          <a:bodyPr anchor="ctr" anchorCtr="0">
            <a:noAutofit/>
          </a:bodyPr>
          <a:lstStyle>
            <a:lvl1pPr marL="0" indent="0" algn="l">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9865294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2 Column Content">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14DB56B5-5DD7-95E3-52B2-EDC4B3F13058}"/>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5">
              <a:extLst>
                <a:ext uri="{FF2B5EF4-FFF2-40B4-BE49-F238E27FC236}">
                  <a16:creationId xmlns:a16="http://schemas.microsoft.com/office/drawing/2014/main" id="{D11C9832-A021-954E-A34F-2988D1189AE9}"/>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601200" cy="1653371"/>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23984"/>
            <a:ext cx="4663440" cy="3332832"/>
          </a:xfrm>
        </p:spPr>
        <p:txBody>
          <a:bodyPr>
            <a:normAutofit/>
          </a:bodyPr>
          <a:lstStyle>
            <a:lvl1pPr marL="0" indent="0">
              <a:spcBef>
                <a:spcPts val="1000"/>
              </a:spcBef>
              <a:buFont typeface="Arial" panose="020B0604020202020204" pitchFamily="34" charset="0"/>
              <a:buNone/>
              <a:defRPr sz="2000">
                <a:latin typeface="+mn-lt"/>
              </a:defRPr>
            </a:lvl1pPr>
            <a:lvl2pPr marL="283464" indent="-283464">
              <a:spcBef>
                <a:spcPts val="1000"/>
              </a:spcBef>
              <a:buFont typeface="Arial" panose="020B0604020202020204" pitchFamily="34" charset="0"/>
              <a:buChar char="•"/>
              <a:defRPr sz="2000">
                <a:latin typeface="+mn-lt"/>
              </a:defRPr>
            </a:lvl2pPr>
            <a:lvl3pPr marL="566928" indent="-283464">
              <a:spcBef>
                <a:spcPts val="1000"/>
              </a:spcBef>
              <a:buFont typeface="Arial" panose="020B0604020202020204" pitchFamily="34" charset="0"/>
              <a:buChar char="•"/>
              <a:defRPr sz="2000">
                <a:latin typeface="+mn-lt"/>
              </a:defRPr>
            </a:lvl3pPr>
            <a:lvl4pPr marL="850392" indent="-283464">
              <a:spcBef>
                <a:spcPts val="1000"/>
              </a:spcBef>
              <a:buFont typeface="Arial" panose="020B0604020202020204" pitchFamily="34" charset="0"/>
              <a:buChar char="•"/>
              <a:defRPr sz="2000">
                <a:latin typeface="+mn-lt"/>
              </a:defRPr>
            </a:lvl4pPr>
            <a:lvl5pPr marL="1133856" indent="-283464">
              <a:spcBef>
                <a:spcPts val="1000"/>
              </a:spcBef>
              <a:buFont typeface="Arial" panose="020B0604020202020204" pitchFamily="34" charset="0"/>
              <a:buChar char="•"/>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94CA559C-3355-DE44-ACF9-BDB6083C4225}"/>
              </a:ext>
            </a:extLst>
          </p:cNvPr>
          <p:cNvSpPr>
            <a:spLocks noGrp="1"/>
          </p:cNvSpPr>
          <p:nvPr>
            <p:ph idx="10" hasCustomPrompt="1"/>
          </p:nvPr>
        </p:nvSpPr>
        <p:spPr>
          <a:xfrm>
            <a:off x="6283235" y="2023984"/>
            <a:ext cx="4663440" cy="3332832"/>
          </a:xfrm>
        </p:spPr>
        <p:txBody>
          <a:bodyPr>
            <a:normAutofit/>
          </a:bodyPr>
          <a:lstStyle>
            <a:lvl1pPr marL="0" indent="0">
              <a:spcBef>
                <a:spcPts val="1000"/>
              </a:spcBef>
              <a:buFont typeface="Arial" panose="020B0604020202020204" pitchFamily="34" charset="0"/>
              <a:buNone/>
              <a:defRPr sz="2000">
                <a:latin typeface="+mn-lt"/>
              </a:defRPr>
            </a:lvl1pPr>
            <a:lvl2pPr marL="283464" indent="-283464">
              <a:spcBef>
                <a:spcPts val="1000"/>
              </a:spcBef>
              <a:buFont typeface="Arial" panose="020B0604020202020204" pitchFamily="34" charset="0"/>
              <a:buChar char="•"/>
              <a:defRPr sz="2000">
                <a:latin typeface="+mn-lt"/>
              </a:defRPr>
            </a:lvl2pPr>
            <a:lvl3pPr marL="566928" indent="-283464">
              <a:spcBef>
                <a:spcPts val="1000"/>
              </a:spcBef>
              <a:buFont typeface="Arial" panose="020B0604020202020204" pitchFamily="34" charset="0"/>
              <a:buChar char="•"/>
              <a:defRPr sz="2000">
                <a:latin typeface="+mn-lt"/>
              </a:defRPr>
            </a:lvl3pPr>
            <a:lvl4pPr marL="850392" indent="-283464">
              <a:spcBef>
                <a:spcPts val="1000"/>
              </a:spcBef>
              <a:buFont typeface="Arial" panose="020B0604020202020204" pitchFamily="34" charset="0"/>
              <a:buChar char="•"/>
              <a:defRPr sz="2000">
                <a:latin typeface="+mn-lt"/>
              </a:defRPr>
            </a:lvl4pPr>
            <a:lvl5pPr marL="1133856" indent="-283464">
              <a:spcBef>
                <a:spcPts val="1000"/>
              </a:spcBef>
              <a:buFont typeface="Arial" panose="020B0604020202020204" pitchFamily="34" charset="0"/>
              <a:buChar char="•"/>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7678435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2 content">
    <p:bg>
      <p:bgPr>
        <a:solidFill>
          <a:schemeClr val="accent1"/>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A0E8D4A-B13C-C7EE-5E27-278124A1276E}"/>
              </a:ext>
              <a:ext uri="{C183D7F6-B498-43B3-948B-1728B52AA6E4}">
                <adec:decorative xmlns:adec="http://schemas.microsoft.com/office/drawing/2017/decorative" val="1"/>
              </a:ext>
            </a:extLst>
          </p:cNvPr>
          <p:cNvGrpSpPr/>
          <p:nvPr userDrawn="1"/>
        </p:nvGrpSpPr>
        <p:grpSpPr>
          <a:xfrm>
            <a:off x="1" y="1"/>
            <a:ext cx="12191999" cy="6857999"/>
            <a:chOff x="1" y="1"/>
            <a:chExt cx="12191999" cy="6857999"/>
          </a:xfrm>
        </p:grpSpPr>
        <p:sp>
          <p:nvSpPr>
            <p:cNvPr id="4" name="Freeform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rot="5400000" flipH="1">
              <a:off x="1"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69008"/>
            <a:ext cx="9779183" cy="1706563"/>
          </a:xfrm>
        </p:spPr>
        <p:txBody>
          <a:bodyPr anchor="b">
            <a:noAutofit/>
          </a:bodyPr>
          <a:lstStyle>
            <a:lvl1pPr>
              <a:defRPr sz="4200" b="1">
                <a:solidFill>
                  <a:schemeClr val="bg1"/>
                </a:solidFill>
                <a:latin typeface="+mj-lt"/>
              </a:defRPr>
            </a:lvl1pPr>
          </a:lstStyle>
          <a:p>
            <a:r>
              <a:rPr lang="en-US" dirty="0"/>
              <a:t>Click to add title</a:t>
            </a:r>
          </a:p>
        </p:txBody>
      </p:sp>
      <p:sp>
        <p:nvSpPr>
          <p:cNvPr id="14" name="Content Placeholder 2">
            <a:extLst>
              <a:ext uri="{FF2B5EF4-FFF2-40B4-BE49-F238E27FC236}">
                <a16:creationId xmlns:a16="http://schemas.microsoft.com/office/drawing/2014/main" id="{926B296A-EB6A-9BE9-E813-B15C46524F4D}"/>
              </a:ext>
            </a:extLst>
          </p:cNvPr>
          <p:cNvSpPr>
            <a:spLocks noGrp="1"/>
          </p:cNvSpPr>
          <p:nvPr>
            <p:ph idx="12" hasCustomPrompt="1"/>
          </p:nvPr>
        </p:nvSpPr>
        <p:spPr>
          <a:xfrm>
            <a:off x="1167493" y="2023984"/>
            <a:ext cx="4663440" cy="3332832"/>
          </a:xfrm>
        </p:spPr>
        <p:txBody>
          <a:bodyPr>
            <a:normAutofit/>
          </a:bodyPr>
          <a:lstStyle>
            <a:lvl1pPr marL="530352" indent="-530352">
              <a:spcBef>
                <a:spcPts val="1000"/>
              </a:spcBef>
              <a:buFont typeface="+mj-lt"/>
              <a:buAutoNum type="arabicPeriod"/>
              <a:defRPr sz="2000">
                <a:solidFill>
                  <a:schemeClr val="bg1"/>
                </a:solidFill>
                <a:latin typeface="+mn-lt"/>
              </a:defRPr>
            </a:lvl1pPr>
            <a:lvl2pPr marL="1097280" indent="-530352">
              <a:spcBef>
                <a:spcPts val="1000"/>
              </a:spcBef>
              <a:buFont typeface="+mj-lt"/>
              <a:buAutoNum type="alphaLcPeriod"/>
              <a:defRPr sz="2000">
                <a:solidFill>
                  <a:schemeClr val="bg1"/>
                </a:solidFill>
                <a:latin typeface="+mn-lt"/>
              </a:defRPr>
            </a:lvl2pPr>
            <a:lvl3pPr marL="1645920" indent="-530352">
              <a:spcBef>
                <a:spcPts val="1000"/>
              </a:spcBef>
              <a:buFont typeface="+mj-lt"/>
              <a:buAutoNum type="arabicParenR"/>
              <a:defRPr sz="2000">
                <a:solidFill>
                  <a:schemeClr val="bg1"/>
                </a:solidFill>
                <a:latin typeface="+mn-lt"/>
              </a:defRPr>
            </a:lvl3pPr>
            <a:lvl4pPr marL="1920240" indent="-530352">
              <a:spcBef>
                <a:spcPts val="1000"/>
              </a:spcBef>
              <a:buFont typeface="+mj-lt"/>
              <a:buAutoNum type="alphaLcParenR"/>
              <a:defRPr sz="2000">
                <a:solidFill>
                  <a:schemeClr val="bg1"/>
                </a:solidFill>
                <a:latin typeface="+mn-lt"/>
              </a:defRPr>
            </a:lvl4pPr>
            <a:lvl5pPr marL="2560320" indent="-514350">
              <a:spcBef>
                <a:spcPts val="1000"/>
              </a:spcBef>
              <a:buFont typeface="+mj-lt"/>
              <a:buAutoNum type="romanLcPeriod"/>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a:extLst>
              <a:ext uri="{FF2B5EF4-FFF2-40B4-BE49-F238E27FC236}">
                <a16:creationId xmlns:a16="http://schemas.microsoft.com/office/drawing/2014/main" id="{9435B7D5-E7F8-1267-8942-3C97BE836B98}"/>
              </a:ext>
            </a:extLst>
          </p:cNvPr>
          <p:cNvSpPr>
            <a:spLocks noGrp="1"/>
          </p:cNvSpPr>
          <p:nvPr>
            <p:ph idx="11" hasCustomPrompt="1"/>
          </p:nvPr>
        </p:nvSpPr>
        <p:spPr>
          <a:xfrm>
            <a:off x="6283235" y="2023984"/>
            <a:ext cx="4663440" cy="3332832"/>
          </a:xfrm>
        </p:spPr>
        <p:txBody>
          <a:bodyPr>
            <a:normAutofit/>
          </a:bodyPr>
          <a:lstStyle>
            <a:lvl1pPr marL="0" indent="0">
              <a:spcBef>
                <a:spcPts val="1000"/>
              </a:spcBef>
              <a:buFont typeface="Arial" panose="020B0604020202020204" pitchFamily="34" charset="0"/>
              <a:buNone/>
              <a:defRPr sz="2000">
                <a:solidFill>
                  <a:schemeClr val="bg1"/>
                </a:solidFill>
                <a:latin typeface="+mn-lt"/>
              </a:defRPr>
            </a:lvl1pPr>
            <a:lvl2pPr marL="283464" indent="-283464">
              <a:spcBef>
                <a:spcPts val="1000"/>
              </a:spcBef>
              <a:buFont typeface="Arial" panose="020B0604020202020204" pitchFamily="34" charset="0"/>
              <a:buChar char="•"/>
              <a:defRPr sz="2000">
                <a:solidFill>
                  <a:schemeClr val="bg1"/>
                </a:solidFill>
                <a:latin typeface="+mn-lt"/>
              </a:defRPr>
            </a:lvl2pPr>
            <a:lvl3pPr marL="566928" indent="-283464">
              <a:spcBef>
                <a:spcPts val="1000"/>
              </a:spcBef>
              <a:buFont typeface="Arial" panose="020B0604020202020204" pitchFamily="34" charset="0"/>
              <a:buChar char="•"/>
              <a:defRPr sz="2000">
                <a:solidFill>
                  <a:schemeClr val="bg1"/>
                </a:solidFill>
                <a:latin typeface="+mn-lt"/>
              </a:defRPr>
            </a:lvl3pPr>
            <a:lvl4pPr marL="850392" indent="-283464">
              <a:spcBef>
                <a:spcPts val="1000"/>
              </a:spcBef>
              <a:buFont typeface="Arial" panose="020B0604020202020204" pitchFamily="34" charset="0"/>
              <a:buChar char="•"/>
              <a:defRPr sz="2000">
                <a:solidFill>
                  <a:schemeClr val="bg1"/>
                </a:solidFill>
                <a:latin typeface="+mn-lt"/>
              </a:defRPr>
            </a:lvl4pPr>
            <a:lvl5pPr marL="1133856" indent="-283464">
              <a:spcBef>
                <a:spcPts val="1000"/>
              </a:spcBef>
              <a:buFont typeface="Arial" panose="020B0604020202020204" pitchFamily="34" charset="0"/>
              <a:buChar char="•"/>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2"/>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40204266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Chart ">
    <p:bg>
      <p:bgPr>
        <a:solidFill>
          <a:schemeClr val="accent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ABA2A58C-57B7-834C-8F5C-3299322411B1}"/>
              </a:ext>
              <a:ext uri="{C183D7F6-B498-43B3-948B-1728B52AA6E4}">
                <adec:decorative xmlns:adec="http://schemas.microsoft.com/office/drawing/2017/decorative" val="1"/>
              </a:ext>
            </a:extLst>
          </p:cNvPr>
          <p:cNvGrpSpPr/>
          <p:nvPr userDrawn="1"/>
        </p:nvGrpSpPr>
        <p:grpSpPr>
          <a:xfrm rot="16200000">
            <a:off x="10772262" y="152641"/>
            <a:ext cx="1572380" cy="1267097"/>
            <a:chOff x="7413403" y="4976359"/>
            <a:chExt cx="2334986" cy="1881641"/>
          </a:xfrm>
        </p:grpSpPr>
        <p:sp>
          <p:nvSpPr>
            <p:cNvPr id="13" name="Freeform 12">
              <a:extLst>
                <a:ext uri="{FF2B5EF4-FFF2-40B4-BE49-F238E27FC236}">
                  <a16:creationId xmlns:a16="http://schemas.microsoft.com/office/drawing/2014/main" id="{801D8067-144A-FE48-AF1E-529B662DCAD3}"/>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2ECA7D87-C78C-C140-AA28-C0FB20209045}"/>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779183" cy="1570038"/>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84832"/>
            <a:ext cx="9779182" cy="3366813"/>
          </a:xfrm>
        </p:spPr>
        <p:txBody>
          <a:bodyPr>
            <a:no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1909451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End Slide">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8AD52EA-B01E-8D38-D87A-BF7EB5B58A82}"/>
              </a:ext>
              <a:ext uri="{C183D7F6-B498-43B3-948B-1728B52AA6E4}">
                <adec:decorative xmlns:adec="http://schemas.microsoft.com/office/drawing/2017/decorative" val="1"/>
              </a:ext>
            </a:extLst>
          </p:cNvPr>
          <p:cNvGrpSpPr/>
          <p:nvPr userDrawn="1"/>
        </p:nvGrpSpPr>
        <p:grpSpPr>
          <a:xfrm>
            <a:off x="0" y="-1"/>
            <a:ext cx="12192001" cy="6864796"/>
            <a:chOff x="0" y="-1"/>
            <a:chExt cx="12192001" cy="6864796"/>
          </a:xfrm>
        </p:grpSpPr>
        <p:sp>
          <p:nvSpPr>
            <p:cNvPr id="4" name="Rectangle 3">
              <a:extLst>
                <a:ext uri="{FF2B5EF4-FFF2-40B4-BE49-F238E27FC236}">
                  <a16:creationId xmlns:a16="http://schemas.microsoft.com/office/drawing/2014/main" id="{9AC79249-FDC0-364D-A734-AE1DE1605D28}"/>
                </a:ext>
              </a:extLst>
            </p:cNvPr>
            <p:cNvSpPr/>
            <p:nvPr userDrawn="1"/>
          </p:nvSpPr>
          <p:spPr>
            <a:xfrm>
              <a:off x="8264426" y="0"/>
              <a:ext cx="392757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F15FBB50-09C8-B64E-AE57-67C5E70810CB}"/>
                </a:ext>
              </a:extLst>
            </p:cNvPr>
            <p:cNvGrpSpPr/>
            <p:nvPr userDrawn="1"/>
          </p:nvGrpSpPr>
          <p:grpSpPr>
            <a:xfrm>
              <a:off x="8264427" y="3685939"/>
              <a:ext cx="3927573" cy="3178856"/>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2" name="Freeform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16">
              <a:extLst>
                <a:ext uri="{FF2B5EF4-FFF2-40B4-BE49-F238E27FC236}">
                  <a16:creationId xmlns:a16="http://schemas.microsoft.com/office/drawing/2014/main" id="{39563C76-BC00-DE47-88F5-C24D3CE3325A}"/>
                </a:ext>
              </a:extLst>
            </p:cNvPr>
            <p:cNvSpPr/>
            <p:nvPr userDrawn="1"/>
          </p:nvSpPr>
          <p:spPr>
            <a:xfrm>
              <a:off x="10228214" y="-1"/>
              <a:ext cx="1963787" cy="3178856"/>
            </a:xfrm>
            <a:custGeom>
              <a:avLst/>
              <a:gdLst>
                <a:gd name="connsiteX0" fmla="*/ 0 w 1963787"/>
                <a:gd name="connsiteY0" fmla="*/ 0 h 3178856"/>
                <a:gd name="connsiteX1" fmla="*/ 1963787 w 1963787"/>
                <a:gd name="connsiteY1" fmla="*/ 0 h 3178856"/>
                <a:gd name="connsiteX2" fmla="*/ 1963787 w 1963787"/>
                <a:gd name="connsiteY2" fmla="*/ 1967129 h 3178856"/>
                <a:gd name="connsiteX3" fmla="*/ 1963787 w 1963787"/>
                <a:gd name="connsiteY3" fmla="*/ 2349671 h 3178856"/>
                <a:gd name="connsiteX4" fmla="*/ 1963787 w 1963787"/>
                <a:gd name="connsiteY4" fmla="*/ 3178856 h 3178856"/>
                <a:gd name="connsiteX5" fmla="*/ 1963753 w 1963787"/>
                <a:gd name="connsiteY5" fmla="*/ 3178856 h 3178856"/>
                <a:gd name="connsiteX6" fmla="*/ 1763002 w 1963787"/>
                <a:gd name="connsiteY6" fmla="*/ 3168629 h 3178856"/>
                <a:gd name="connsiteX7" fmla="*/ 0 w 1963787"/>
                <a:gd name="connsiteY7" fmla="*/ 1197921 h 3178856"/>
                <a:gd name="connsiteX8" fmla="*/ 0 w 1963787"/>
                <a:gd name="connsiteY8" fmla="*/ 1039961 h 3178856"/>
                <a:gd name="connsiteX9" fmla="*/ 0 w 1963787"/>
                <a:gd name="connsiteY9" fmla="*/ 0 h 3178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63787" h="3178856">
                  <a:moveTo>
                    <a:pt x="0" y="0"/>
                  </a:moveTo>
                  <a:lnTo>
                    <a:pt x="1963787" y="0"/>
                  </a:lnTo>
                  <a:lnTo>
                    <a:pt x="1963787" y="1967129"/>
                  </a:lnTo>
                  <a:lnTo>
                    <a:pt x="1963787" y="2349671"/>
                  </a:lnTo>
                  <a:lnTo>
                    <a:pt x="1963787" y="3178856"/>
                  </a:lnTo>
                  <a:lnTo>
                    <a:pt x="1963753" y="3178856"/>
                  </a:lnTo>
                  <a:lnTo>
                    <a:pt x="1763002" y="3168629"/>
                  </a:lnTo>
                  <a:cubicBezTo>
                    <a:pt x="772749" y="3067186"/>
                    <a:pt x="0" y="2223585"/>
                    <a:pt x="0" y="1197921"/>
                  </a:cubicBezTo>
                  <a:lnTo>
                    <a:pt x="0" y="1039961"/>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252549"/>
            <a:ext cx="6220278" cy="3262811"/>
          </a:xfrm>
        </p:spPr>
        <p:txBody>
          <a:bodyPr anchor="b">
            <a:noAutofit/>
          </a:bodyPr>
          <a:lstStyle>
            <a:lvl1pPr algn="l">
              <a:defRPr sz="6000" b="1">
                <a:latin typeface="+mj-lt"/>
              </a:defRPr>
            </a:lvl1pPr>
          </a:lstStyle>
          <a:p>
            <a:r>
              <a:rPr lang="en-US" dirty="0"/>
              <a:t>Click to add title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3" y="3685939"/>
            <a:ext cx="6220277" cy="2919512"/>
          </a:xfrm>
        </p:spPr>
        <p:txBody>
          <a:bodyPr anchor="t" anchorCtr="0">
            <a:normAutofit/>
          </a:bodyPr>
          <a:lstStyle>
            <a:lvl1pPr marL="0" indent="0" algn="l">
              <a:buNone/>
              <a:defRPr sz="28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text</a:t>
            </a:r>
          </a:p>
        </p:txBody>
      </p:sp>
    </p:spTree>
    <p:extLst>
      <p:ext uri="{BB962C8B-B14F-4D97-AF65-F5344CB8AC3E}">
        <p14:creationId xmlns:p14="http://schemas.microsoft.com/office/powerpoint/2010/main" val="25447069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381000" y="381000"/>
            <a:ext cx="114300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381000" y="1825625"/>
            <a:ext cx="114300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ED77A09-15C2-4E47-948E-AACAFCA47D40}"/>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tx2"/>
                </a:solidFill>
                <a:latin typeface="+mn-lt"/>
              </a:defRPr>
            </a:lvl1pPr>
          </a:lstStyle>
          <a:p>
            <a:r>
              <a:rPr lang="en-US" dirty="0"/>
              <a:t>9/8/20XX</a:t>
            </a:r>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tx2"/>
                </a:solidFill>
                <a:latin typeface="+mn-lt"/>
              </a:defRPr>
            </a:lvl1pPr>
          </a:lstStyle>
          <a:p>
            <a:endParaRPr lang="en-US" dirty="0"/>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9067800" y="6356350"/>
            <a:ext cx="2743200" cy="365125"/>
          </a:xfrm>
          <a:prstGeom prst="rect">
            <a:avLst/>
          </a:prstGeom>
        </p:spPr>
        <p:txBody>
          <a:bodyPr vert="horz" lIns="91440" tIns="45720" rIns="91440" bIns="45720" rtlCol="0" anchor="ctr">
            <a:noAutofit/>
          </a:bodyPr>
          <a:lstStyle>
            <a:lvl1pPr algn="r">
              <a:defRPr sz="1200">
                <a:solidFill>
                  <a:schemeClr val="tx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71" r:id="rId3"/>
    <p:sldLayoutId id="2147483659" r:id="rId4"/>
    <p:sldLayoutId id="2147483668" r:id="rId5"/>
    <p:sldLayoutId id="2147483669" r:id="rId6"/>
    <p:sldLayoutId id="2147483661" r:id="rId7"/>
    <p:sldLayoutId id="2147483666" r:id="rId8"/>
  </p:sldLayoutIdLst>
  <p:hf sldNum="0" hdr="0" ftr="0" dt="0"/>
  <p:txStyles>
    <p:titleStyle>
      <a:lvl1pPr algn="l" defTabSz="914400" rtl="0" eaLnBrk="1" latinLnBrk="0" hangingPunct="1">
        <a:lnSpc>
          <a:spcPct val="8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F3D98-3C30-4CFC-8643-C81E829C8C25}"/>
              </a:ext>
            </a:extLst>
          </p:cNvPr>
          <p:cNvSpPr>
            <a:spLocks noGrp="1"/>
          </p:cNvSpPr>
          <p:nvPr>
            <p:ph type="ctrTitle"/>
          </p:nvPr>
        </p:nvSpPr>
        <p:spPr>
          <a:xfrm>
            <a:off x="1167493" y="232913"/>
            <a:ext cx="7096933" cy="3830130"/>
          </a:xfrm>
        </p:spPr>
        <p:txBody>
          <a:bodyPr/>
          <a:lstStyle/>
          <a:p>
            <a:r>
              <a:rPr lang="en-US" dirty="0"/>
              <a:t>Personal Loans Case</a:t>
            </a:r>
            <a:br>
              <a:rPr lang="en-US" dirty="0"/>
            </a:br>
            <a:r>
              <a:rPr lang="en-US" dirty="0"/>
              <a:t>Red Ventures Interview</a:t>
            </a:r>
          </a:p>
        </p:txBody>
      </p:sp>
      <p:sp>
        <p:nvSpPr>
          <p:cNvPr id="3" name="TextBox 2">
            <a:extLst>
              <a:ext uri="{FF2B5EF4-FFF2-40B4-BE49-F238E27FC236}">
                <a16:creationId xmlns:a16="http://schemas.microsoft.com/office/drawing/2014/main" id="{6300B822-8F27-27D3-C060-36B88DA86D3E}"/>
              </a:ext>
            </a:extLst>
          </p:cNvPr>
          <p:cNvSpPr txBox="1"/>
          <p:nvPr/>
        </p:nvSpPr>
        <p:spPr>
          <a:xfrm>
            <a:off x="1167493" y="4182701"/>
            <a:ext cx="3322621" cy="369332"/>
          </a:xfrm>
          <a:prstGeom prst="rect">
            <a:avLst/>
          </a:prstGeom>
          <a:noFill/>
        </p:spPr>
        <p:txBody>
          <a:bodyPr wrap="square" rtlCol="0">
            <a:spAutoFit/>
          </a:bodyPr>
          <a:lstStyle/>
          <a:p>
            <a:r>
              <a:rPr lang="en-US" dirty="0"/>
              <a:t>Michael San Pietro</a:t>
            </a:r>
          </a:p>
        </p:txBody>
      </p:sp>
    </p:spTree>
    <p:extLst>
      <p:ext uri="{BB962C8B-B14F-4D97-AF65-F5344CB8AC3E}">
        <p14:creationId xmlns:p14="http://schemas.microsoft.com/office/powerpoint/2010/main" val="225930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DF434-28DB-4621-A497-D62C41CE0419}"/>
              </a:ext>
            </a:extLst>
          </p:cNvPr>
          <p:cNvSpPr>
            <a:spLocks noGrp="1"/>
          </p:cNvSpPr>
          <p:nvPr>
            <p:ph type="title"/>
          </p:nvPr>
        </p:nvSpPr>
        <p:spPr>
          <a:xfrm>
            <a:off x="1158864" y="102021"/>
            <a:ext cx="9779183" cy="1744415"/>
          </a:xfrm>
        </p:spPr>
        <p:txBody>
          <a:bodyPr/>
          <a:lstStyle/>
          <a:p>
            <a:r>
              <a:rPr lang="en-US" dirty="0"/>
              <a:t>Goals</a:t>
            </a:r>
          </a:p>
        </p:txBody>
      </p:sp>
      <p:sp>
        <p:nvSpPr>
          <p:cNvPr id="3" name="Content Placeholder 2">
            <a:extLst>
              <a:ext uri="{FF2B5EF4-FFF2-40B4-BE49-F238E27FC236}">
                <a16:creationId xmlns:a16="http://schemas.microsoft.com/office/drawing/2014/main" id="{22788C46-D0BC-4307-AE55-7601A139E7CB}"/>
              </a:ext>
            </a:extLst>
          </p:cNvPr>
          <p:cNvSpPr>
            <a:spLocks noGrp="1"/>
          </p:cNvSpPr>
          <p:nvPr>
            <p:ph idx="1"/>
          </p:nvPr>
        </p:nvSpPr>
        <p:spPr>
          <a:xfrm>
            <a:off x="1158865" y="2017467"/>
            <a:ext cx="9779182" cy="3366815"/>
          </a:xfrm>
        </p:spPr>
        <p:txBody>
          <a:bodyPr vert="horz" lIns="91440" tIns="45720" rIns="91440" bIns="45720" rtlCol="0" anchor="t">
            <a:normAutofit lnSpcReduction="10000"/>
          </a:bodyPr>
          <a:lstStyle/>
          <a:p>
            <a:pPr marL="457200" indent="-457200">
              <a:buFont typeface="Arial" panose="020B0604020202020204" pitchFamily="34" charset="0"/>
              <a:buChar char="•"/>
            </a:pPr>
            <a:r>
              <a:rPr lang="en-US" dirty="0"/>
              <a:t>Better understand lending firms</a:t>
            </a:r>
          </a:p>
          <a:p>
            <a:pPr marL="914400" lvl="1" indent="-457200">
              <a:buFont typeface="Arial" panose="020B0604020202020204" pitchFamily="34" charset="0"/>
              <a:buChar char="•"/>
            </a:pPr>
            <a:r>
              <a:rPr lang="en-US" dirty="0"/>
              <a:t>What variables do they consider?</a:t>
            </a:r>
          </a:p>
          <a:p>
            <a:pPr marL="914400" lvl="1" indent="-457200">
              <a:buFont typeface="Arial" panose="020B0604020202020204" pitchFamily="34" charset="0"/>
              <a:buChar char="•"/>
            </a:pPr>
            <a:r>
              <a:rPr lang="en-US" dirty="0"/>
              <a:t>Which are most influential?</a:t>
            </a:r>
          </a:p>
          <a:p>
            <a:pPr marL="457200" indent="-457200">
              <a:buFont typeface="Arial" panose="020B0604020202020204" pitchFamily="34" charset="0"/>
              <a:buChar char="•"/>
            </a:pPr>
            <a:r>
              <a:rPr lang="en-US" dirty="0"/>
              <a:t>Define subsections of the customer base to target</a:t>
            </a:r>
          </a:p>
          <a:p>
            <a:pPr marL="914400" lvl="1" indent="-457200">
              <a:buFont typeface="Arial" panose="020B0604020202020204" pitchFamily="34" charset="0"/>
              <a:buChar char="•"/>
            </a:pPr>
            <a:r>
              <a:rPr lang="en-US" dirty="0"/>
              <a:t>Do certain groups have better approval rates with certain lenders?</a:t>
            </a:r>
          </a:p>
          <a:p>
            <a:pPr marL="457200" indent="-457200">
              <a:buFont typeface="Arial" panose="020B0604020202020204" pitchFamily="34" charset="0"/>
              <a:buChar char="•"/>
            </a:pPr>
            <a:r>
              <a:rPr lang="en-US" dirty="0"/>
              <a:t>Improve Revenue per Application</a:t>
            </a:r>
          </a:p>
          <a:p>
            <a:pPr marL="914400" lvl="1" indent="-457200">
              <a:buFont typeface="Arial" panose="020B0604020202020204" pitchFamily="34" charset="0"/>
              <a:buChar char="•"/>
            </a:pPr>
            <a:r>
              <a:rPr lang="en-US" dirty="0"/>
              <a:t>Essentially maximizing the approval rate multiplied by the bounty</a:t>
            </a:r>
          </a:p>
        </p:txBody>
      </p:sp>
    </p:spTree>
    <p:extLst>
      <p:ext uri="{BB962C8B-B14F-4D97-AF65-F5344CB8AC3E}">
        <p14:creationId xmlns:p14="http://schemas.microsoft.com/office/powerpoint/2010/main" val="13256085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7A77D-BA8F-4B93-9598-36A1147B5C25}"/>
              </a:ext>
            </a:extLst>
          </p:cNvPr>
          <p:cNvSpPr>
            <a:spLocks noGrp="1"/>
          </p:cNvSpPr>
          <p:nvPr>
            <p:ph type="title"/>
          </p:nvPr>
        </p:nvSpPr>
        <p:spPr/>
        <p:txBody>
          <a:bodyPr/>
          <a:lstStyle/>
          <a:p>
            <a:r>
              <a:rPr lang="en-US" dirty="0"/>
              <a:t>Core Variable relationship with Approvability</a:t>
            </a:r>
          </a:p>
        </p:txBody>
      </p:sp>
      <p:sp>
        <p:nvSpPr>
          <p:cNvPr id="3" name="Content Placeholder 2">
            <a:extLst>
              <a:ext uri="{FF2B5EF4-FFF2-40B4-BE49-F238E27FC236}">
                <a16:creationId xmlns:a16="http://schemas.microsoft.com/office/drawing/2014/main" id="{7873FE0E-F0D1-0EAB-4A1C-999FF1D197B5}"/>
              </a:ext>
            </a:extLst>
          </p:cNvPr>
          <p:cNvSpPr>
            <a:spLocks noGrp="1"/>
          </p:cNvSpPr>
          <p:nvPr>
            <p:ph idx="14"/>
          </p:nvPr>
        </p:nvSpPr>
        <p:spPr/>
        <p:txBody>
          <a:bodyPr>
            <a:normAutofit/>
          </a:bodyPr>
          <a:lstStyle/>
          <a:p>
            <a:pPr marL="59436" indent="0">
              <a:buNone/>
            </a:pPr>
            <a:r>
              <a:rPr lang="en-US" dirty="0"/>
              <a:t>Core variables:</a:t>
            </a:r>
          </a:p>
          <a:p>
            <a:pPr marL="59436" indent="0">
              <a:buNone/>
            </a:pPr>
            <a:r>
              <a:rPr lang="en-US" dirty="0"/>
              <a:t>These Variables have been identified as Core Variables because they have large statistically significant effects that do not vary much in their magnitude or significance between lenders.</a:t>
            </a:r>
          </a:p>
          <a:p>
            <a:pPr marL="626364" lvl="1" indent="-342900"/>
            <a:r>
              <a:rPr lang="en-US" dirty="0"/>
              <a:t>FICO Score </a:t>
            </a:r>
          </a:p>
          <a:p>
            <a:pPr marL="909828" lvl="2" indent="-342900"/>
            <a:r>
              <a:rPr lang="en-US" dirty="0"/>
              <a:t>Has a universally positive and significant relationship with loan approval rates</a:t>
            </a:r>
          </a:p>
          <a:p>
            <a:pPr marL="626364" lvl="1" indent="-342900"/>
            <a:r>
              <a:rPr lang="en-US" dirty="0"/>
              <a:t>Loan Amount</a:t>
            </a:r>
          </a:p>
          <a:p>
            <a:pPr marL="909828" lvl="2" indent="-342900"/>
            <a:r>
              <a:rPr lang="en-US" dirty="0"/>
              <a:t>Has a universally negative and significant relationship with loan approval rates</a:t>
            </a:r>
          </a:p>
          <a:p>
            <a:pPr marL="566928" lvl="2" indent="0">
              <a:buNone/>
            </a:pPr>
            <a:endParaRPr lang="en-US" dirty="0"/>
          </a:p>
        </p:txBody>
      </p:sp>
      <p:sp>
        <p:nvSpPr>
          <p:cNvPr id="5" name="TextBox 4">
            <a:extLst>
              <a:ext uri="{FF2B5EF4-FFF2-40B4-BE49-F238E27FC236}">
                <a16:creationId xmlns:a16="http://schemas.microsoft.com/office/drawing/2014/main" id="{64D04C84-7AA4-2863-F8D7-D56740AF58ED}"/>
              </a:ext>
            </a:extLst>
          </p:cNvPr>
          <p:cNvSpPr txBox="1"/>
          <p:nvPr/>
        </p:nvSpPr>
        <p:spPr>
          <a:xfrm>
            <a:off x="135803" y="6396335"/>
            <a:ext cx="3965417" cy="923330"/>
          </a:xfrm>
          <a:prstGeom prst="rect">
            <a:avLst/>
          </a:prstGeom>
          <a:noFill/>
        </p:spPr>
        <p:txBody>
          <a:bodyPr wrap="square" rtlCol="0">
            <a:spAutoFit/>
          </a:bodyPr>
          <a:lstStyle/>
          <a:p>
            <a:r>
              <a:rPr lang="en-US" dirty="0"/>
              <a:t>*Universal-it does not vary by lender</a:t>
            </a:r>
          </a:p>
          <a:p>
            <a:endParaRPr lang="en-US" dirty="0"/>
          </a:p>
          <a:p>
            <a:endParaRPr lang="en-US" dirty="0"/>
          </a:p>
        </p:txBody>
      </p:sp>
      <p:sp>
        <p:nvSpPr>
          <p:cNvPr id="6" name="TextBox 5">
            <a:extLst>
              <a:ext uri="{FF2B5EF4-FFF2-40B4-BE49-F238E27FC236}">
                <a16:creationId xmlns:a16="http://schemas.microsoft.com/office/drawing/2014/main" id="{75F03E20-A1FE-D1B0-5AF2-ED5EEE134F19}"/>
              </a:ext>
            </a:extLst>
          </p:cNvPr>
          <p:cNvSpPr txBox="1"/>
          <p:nvPr/>
        </p:nvSpPr>
        <p:spPr>
          <a:xfrm>
            <a:off x="4409167" y="5657671"/>
            <a:ext cx="3748135" cy="1200329"/>
          </a:xfrm>
          <a:prstGeom prst="rect">
            <a:avLst/>
          </a:prstGeom>
          <a:noFill/>
        </p:spPr>
        <p:txBody>
          <a:bodyPr wrap="square" rtlCol="0">
            <a:spAutoFit/>
          </a:bodyPr>
          <a:lstStyle/>
          <a:p>
            <a:r>
              <a:rPr lang="en-US" dirty="0"/>
              <a:t>*All calculations of statistical significance and coefficient direction completed using a logistic regression model</a:t>
            </a:r>
          </a:p>
        </p:txBody>
      </p:sp>
    </p:spTree>
    <p:extLst>
      <p:ext uri="{BB962C8B-B14F-4D97-AF65-F5344CB8AC3E}">
        <p14:creationId xmlns:p14="http://schemas.microsoft.com/office/powerpoint/2010/main" val="24331567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ABCBC-D60B-B8F7-444F-920B396DAF02}"/>
              </a:ext>
            </a:extLst>
          </p:cNvPr>
          <p:cNvSpPr>
            <a:spLocks noGrp="1"/>
          </p:cNvSpPr>
          <p:nvPr>
            <p:ph type="title"/>
          </p:nvPr>
        </p:nvSpPr>
        <p:spPr/>
        <p:txBody>
          <a:bodyPr/>
          <a:lstStyle/>
          <a:p>
            <a:r>
              <a:rPr lang="en-US" dirty="0"/>
              <a:t>Other Variable Relationships with Approvability</a:t>
            </a:r>
          </a:p>
        </p:txBody>
      </p:sp>
      <p:sp>
        <p:nvSpPr>
          <p:cNvPr id="4" name="Content Placeholder 3">
            <a:extLst>
              <a:ext uri="{FF2B5EF4-FFF2-40B4-BE49-F238E27FC236}">
                <a16:creationId xmlns:a16="http://schemas.microsoft.com/office/drawing/2014/main" id="{097F9FEE-3773-B1E9-46FF-BE0DC8CF0170}"/>
              </a:ext>
            </a:extLst>
          </p:cNvPr>
          <p:cNvSpPr>
            <a:spLocks noGrp="1"/>
          </p:cNvSpPr>
          <p:nvPr>
            <p:ph idx="10"/>
          </p:nvPr>
        </p:nvSpPr>
        <p:spPr/>
        <p:txBody>
          <a:bodyPr/>
          <a:lstStyle/>
          <a:p>
            <a:pPr marL="342900" indent="-342900">
              <a:buFont typeface="Arial" panose="020B0604020202020204" pitchFamily="34" charset="0"/>
              <a:buChar char="•"/>
            </a:pPr>
            <a:r>
              <a:rPr lang="en-US" dirty="0"/>
              <a:t>Ever having gone bankrupt or been foreclosed on</a:t>
            </a:r>
          </a:p>
          <a:p>
            <a:pPr marL="626364" lvl="1" indent="-342900"/>
            <a:r>
              <a:rPr lang="en-US" dirty="0"/>
              <a:t> A significant negative correlation. It is interesting to note that this remains a strong determinant of approval rate even when holding FICO Score constant</a:t>
            </a:r>
          </a:p>
        </p:txBody>
      </p:sp>
      <p:sp>
        <p:nvSpPr>
          <p:cNvPr id="5" name="Content Placeholder 3">
            <a:extLst>
              <a:ext uri="{FF2B5EF4-FFF2-40B4-BE49-F238E27FC236}">
                <a16:creationId xmlns:a16="http://schemas.microsoft.com/office/drawing/2014/main" id="{C6D46079-1F99-7194-F7DD-C758868395C8}"/>
              </a:ext>
            </a:extLst>
          </p:cNvPr>
          <p:cNvSpPr>
            <a:spLocks noGrp="1"/>
          </p:cNvSpPr>
          <p:nvPr>
            <p:ph idx="1"/>
          </p:nvPr>
        </p:nvSpPr>
        <p:spPr>
          <a:xfrm>
            <a:off x="1166813" y="2024063"/>
            <a:ext cx="4664075" cy="3332162"/>
          </a:xfrm>
        </p:spPr>
        <p:txBody>
          <a:bodyPr/>
          <a:lstStyle/>
          <a:p>
            <a:pPr marL="342900" indent="-342900">
              <a:buFont typeface="Arial" panose="020B0604020202020204" pitchFamily="34" charset="0"/>
              <a:buChar char="•"/>
            </a:pPr>
            <a:r>
              <a:rPr lang="en-US" dirty="0"/>
              <a:t>Monthly Housing Payment</a:t>
            </a:r>
          </a:p>
          <a:p>
            <a:pPr marL="626364" lvl="1" indent="-342900"/>
            <a:r>
              <a:rPr lang="en-US" dirty="0"/>
              <a:t>Significant negative correlation likely due to credit risk</a:t>
            </a:r>
          </a:p>
          <a:p>
            <a:pPr marL="342900" indent="-342900">
              <a:buFont typeface="Arial" panose="020B0604020202020204" pitchFamily="34" charset="0"/>
              <a:buChar char="•"/>
            </a:pPr>
            <a:r>
              <a:rPr lang="en-US" dirty="0"/>
              <a:t>Employment </a:t>
            </a:r>
          </a:p>
          <a:p>
            <a:pPr marL="626364" lvl="1" indent="-342900"/>
            <a:r>
              <a:rPr lang="en-US" dirty="0"/>
              <a:t>The distinction between full and part-time has an effect, with full-time being favored (positive correlation); this effect remains significant even when holding Monthly Income constant</a:t>
            </a:r>
          </a:p>
        </p:txBody>
      </p:sp>
    </p:spTree>
    <p:extLst>
      <p:ext uri="{BB962C8B-B14F-4D97-AF65-F5344CB8AC3E}">
        <p14:creationId xmlns:p14="http://schemas.microsoft.com/office/powerpoint/2010/main" val="18806552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6C962-4756-0ACE-5B79-066DD8B05C2D}"/>
              </a:ext>
            </a:extLst>
          </p:cNvPr>
          <p:cNvSpPr>
            <a:spLocks noGrp="1"/>
          </p:cNvSpPr>
          <p:nvPr>
            <p:ph type="title"/>
          </p:nvPr>
        </p:nvSpPr>
        <p:spPr/>
        <p:txBody>
          <a:bodyPr/>
          <a:lstStyle/>
          <a:p>
            <a:r>
              <a:rPr lang="en-US" dirty="0"/>
              <a:t>Determinants of Approvability Quantified</a:t>
            </a:r>
          </a:p>
        </p:txBody>
      </p:sp>
      <p:pic>
        <p:nvPicPr>
          <p:cNvPr id="6" name="Content Placeholder 5">
            <a:extLst>
              <a:ext uri="{FF2B5EF4-FFF2-40B4-BE49-F238E27FC236}">
                <a16:creationId xmlns:a16="http://schemas.microsoft.com/office/drawing/2014/main" id="{FAE583BD-5877-D573-DD74-01D643A2D59F}"/>
              </a:ext>
            </a:extLst>
          </p:cNvPr>
          <p:cNvPicPr>
            <a:picLocks noGrp="1" noChangeAspect="1"/>
          </p:cNvPicPr>
          <p:nvPr>
            <p:ph idx="12"/>
          </p:nvPr>
        </p:nvPicPr>
        <p:blipFill>
          <a:blip r:embed="rId2"/>
          <a:stretch>
            <a:fillRect/>
          </a:stretch>
        </p:blipFill>
        <p:spPr>
          <a:xfrm>
            <a:off x="0" y="1954665"/>
            <a:ext cx="5785782" cy="3471469"/>
          </a:xfrm>
        </p:spPr>
      </p:pic>
      <p:sp>
        <p:nvSpPr>
          <p:cNvPr id="3" name="Content Placeholder 2">
            <a:extLst>
              <a:ext uri="{FF2B5EF4-FFF2-40B4-BE49-F238E27FC236}">
                <a16:creationId xmlns:a16="http://schemas.microsoft.com/office/drawing/2014/main" id="{E02D2098-C899-5414-C65B-69522DF88472}"/>
              </a:ext>
            </a:extLst>
          </p:cNvPr>
          <p:cNvSpPr>
            <a:spLocks noGrp="1"/>
          </p:cNvSpPr>
          <p:nvPr>
            <p:ph idx="11"/>
          </p:nvPr>
        </p:nvSpPr>
        <p:spPr/>
        <p:txBody>
          <a:bodyPr>
            <a:normAutofit fontScale="92500" lnSpcReduction="20000"/>
          </a:bodyPr>
          <a:lstStyle/>
          <a:p>
            <a:pPr marL="342900" indent="-342900">
              <a:buFont typeface="Arial" panose="020B0604020202020204" pitchFamily="34" charset="0"/>
              <a:buChar char="•"/>
            </a:pPr>
            <a:r>
              <a:rPr lang="en-US" dirty="0"/>
              <a:t>Random Forest Model</a:t>
            </a:r>
          </a:p>
          <a:p>
            <a:pPr marL="626364" lvl="1" indent="-342900"/>
            <a:r>
              <a:rPr lang="en-US" dirty="0"/>
              <a:t>Machine Learning model that splits variables based on the prediction of a y variable (in this case probability of being approved for a loan)</a:t>
            </a:r>
          </a:p>
          <a:p>
            <a:pPr marL="626364" lvl="1" indent="-342900"/>
            <a:r>
              <a:rPr lang="en-US" dirty="0"/>
              <a:t>Assigns each variable an importance score (think of this as how significant a role each variable plays when determining the probability of a loan approval)</a:t>
            </a:r>
          </a:p>
          <a:p>
            <a:pPr marL="626364" lvl="1" indent="-342900"/>
            <a:r>
              <a:rPr lang="en-US" dirty="0"/>
              <a:t> The two most important variables in  terms of significance are Monthly Housing Payment and Monthly Gross Income</a:t>
            </a:r>
          </a:p>
        </p:txBody>
      </p:sp>
    </p:spTree>
    <p:extLst>
      <p:ext uri="{BB962C8B-B14F-4D97-AF65-F5344CB8AC3E}">
        <p14:creationId xmlns:p14="http://schemas.microsoft.com/office/powerpoint/2010/main" val="7416204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B76BDA7-25FD-6693-6384-7CA427A183B6}"/>
              </a:ext>
            </a:extLst>
          </p:cNvPr>
          <p:cNvSpPr>
            <a:spLocks noGrp="1"/>
          </p:cNvSpPr>
          <p:nvPr>
            <p:ph type="title"/>
          </p:nvPr>
        </p:nvSpPr>
        <p:spPr/>
        <p:txBody>
          <a:bodyPr/>
          <a:lstStyle/>
          <a:p>
            <a:r>
              <a:rPr lang="en-US" dirty="0"/>
              <a:t>Conclusions Regarding Variable Approvability</a:t>
            </a:r>
          </a:p>
        </p:txBody>
      </p:sp>
      <p:sp>
        <p:nvSpPr>
          <p:cNvPr id="6" name="Content Placeholder 5">
            <a:extLst>
              <a:ext uri="{FF2B5EF4-FFF2-40B4-BE49-F238E27FC236}">
                <a16:creationId xmlns:a16="http://schemas.microsoft.com/office/drawing/2014/main" id="{1375946E-82F9-5194-781A-4CC1C42D8F94}"/>
              </a:ext>
            </a:extLst>
          </p:cNvPr>
          <p:cNvSpPr>
            <a:spLocks noGrp="1"/>
          </p:cNvSpPr>
          <p:nvPr>
            <p:ph idx="1"/>
          </p:nvPr>
        </p:nvSpPr>
        <p:spPr/>
        <p:txBody>
          <a:bodyPr>
            <a:normAutofit lnSpcReduction="10000"/>
          </a:bodyPr>
          <a:lstStyle/>
          <a:p>
            <a:pPr marL="457200" indent="-457200">
              <a:buFont typeface="Arial" panose="020B0604020202020204" pitchFamily="34" charset="0"/>
              <a:buChar char="•"/>
            </a:pPr>
            <a:r>
              <a:rPr lang="en-US" sz="2000" dirty="0"/>
              <a:t>The Reason for the Loan and the Sector of Employment don’t seem to be significant determinants of approvability on aggregate; any effects observed are likely due to other observed factors (Monthly Income, FICO score, etc.), as their effects become insignificant when holding the other observed factors constant. However, they become important when observing differences between firms</a:t>
            </a:r>
          </a:p>
          <a:p>
            <a:pPr marL="457200" indent="-457200">
              <a:buFont typeface="Arial" panose="020B0604020202020204" pitchFamily="34" charset="0"/>
              <a:buChar char="•"/>
            </a:pPr>
            <a:r>
              <a:rPr lang="en-US" sz="2000" dirty="0"/>
              <a:t>Monthly Housing Payment and Monthly Gross Income are the most important determinants of the loan approval rate on aggregate</a:t>
            </a:r>
          </a:p>
          <a:p>
            <a:pPr marL="457200" indent="-457200">
              <a:buFont typeface="Arial" panose="020B0604020202020204" pitchFamily="34" charset="0"/>
              <a:buChar char="•"/>
            </a:pPr>
            <a:r>
              <a:rPr lang="en-US" sz="2000" dirty="0"/>
              <a:t>The variables of FICO Score and Loan Amount are “core variables” due to their consistently significant effects</a:t>
            </a:r>
          </a:p>
          <a:p>
            <a:pPr marL="457200" indent="-457200">
              <a:buFont typeface="Arial" panose="020B0604020202020204" pitchFamily="34" charset="0"/>
              <a:buChar char="•"/>
            </a:pPr>
            <a:r>
              <a:rPr lang="en-US" sz="2000" dirty="0"/>
              <a:t>Other factors (Employment type and ever having gone bankrupt or been foreclosed on) remain important determinants of approval rate</a:t>
            </a:r>
          </a:p>
        </p:txBody>
      </p:sp>
    </p:spTree>
    <p:extLst>
      <p:ext uri="{BB962C8B-B14F-4D97-AF65-F5344CB8AC3E}">
        <p14:creationId xmlns:p14="http://schemas.microsoft.com/office/powerpoint/2010/main" val="1340922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9E52A-5EC6-491D-2802-DDC0749CDC9D}"/>
              </a:ext>
            </a:extLst>
          </p:cNvPr>
          <p:cNvSpPr>
            <a:spLocks noGrp="1"/>
          </p:cNvSpPr>
          <p:nvPr>
            <p:ph type="title"/>
          </p:nvPr>
        </p:nvSpPr>
        <p:spPr>
          <a:xfrm>
            <a:off x="1206408" y="62856"/>
            <a:ext cx="9779183" cy="1706563"/>
          </a:xfrm>
        </p:spPr>
        <p:txBody>
          <a:bodyPr/>
          <a:lstStyle/>
          <a:p>
            <a:r>
              <a:rPr lang="en-US" dirty="0"/>
              <a:t>Differences between the Preferences of Lending Firms</a:t>
            </a:r>
          </a:p>
        </p:txBody>
      </p:sp>
      <p:sp>
        <p:nvSpPr>
          <p:cNvPr id="3" name="Content Placeholder 2">
            <a:extLst>
              <a:ext uri="{FF2B5EF4-FFF2-40B4-BE49-F238E27FC236}">
                <a16:creationId xmlns:a16="http://schemas.microsoft.com/office/drawing/2014/main" id="{D5CD8803-EE35-FA4A-7DEF-25A2590D3C82}"/>
              </a:ext>
            </a:extLst>
          </p:cNvPr>
          <p:cNvSpPr>
            <a:spLocks noGrp="1"/>
          </p:cNvSpPr>
          <p:nvPr>
            <p:ph idx="12"/>
          </p:nvPr>
        </p:nvSpPr>
        <p:spPr/>
        <p:txBody>
          <a:bodyPr/>
          <a:lstStyle/>
          <a:p>
            <a:pPr marL="342900" indent="-342900">
              <a:buFont typeface="Arial" panose="020B0604020202020204" pitchFamily="34" charset="0"/>
              <a:buChar char="•"/>
            </a:pPr>
            <a:r>
              <a:rPr lang="en-US" dirty="0"/>
              <a:t>Preferences and requirements of firms differ significantly</a:t>
            </a:r>
          </a:p>
          <a:p>
            <a:pPr marL="342900" indent="-342900">
              <a:buFont typeface="Arial" panose="020B0604020202020204" pitchFamily="34" charset="0"/>
              <a:buChar char="•"/>
            </a:pPr>
            <a:r>
              <a:rPr lang="en-US" dirty="0"/>
              <a:t>Lender A seems to be the most lenient</a:t>
            </a:r>
          </a:p>
          <a:p>
            <a:pPr marL="342900" indent="-342900">
              <a:buFont typeface="Arial" panose="020B0604020202020204" pitchFamily="34" charset="0"/>
              <a:buChar char="•"/>
            </a:pPr>
            <a:r>
              <a:rPr lang="en-US" dirty="0"/>
              <a:t>Approval rates and bounties have an Inverse Relationship</a:t>
            </a:r>
          </a:p>
          <a:p>
            <a:pPr marL="0" indent="0">
              <a:buNone/>
            </a:pPr>
            <a:endParaRPr lang="en-US" dirty="0"/>
          </a:p>
        </p:txBody>
      </p:sp>
      <p:pic>
        <p:nvPicPr>
          <p:cNvPr id="6" name="Content Placeholder 5">
            <a:extLst>
              <a:ext uri="{FF2B5EF4-FFF2-40B4-BE49-F238E27FC236}">
                <a16:creationId xmlns:a16="http://schemas.microsoft.com/office/drawing/2014/main" id="{309304FB-47A9-0233-DBFB-865B2FA0F4E7}"/>
              </a:ext>
            </a:extLst>
          </p:cNvPr>
          <p:cNvPicPr>
            <a:picLocks noGrp="1" noChangeAspect="1"/>
          </p:cNvPicPr>
          <p:nvPr>
            <p:ph idx="11"/>
          </p:nvPr>
        </p:nvPicPr>
        <p:blipFill>
          <a:blip r:embed="rId2"/>
          <a:stretch>
            <a:fillRect/>
          </a:stretch>
        </p:blipFill>
        <p:spPr>
          <a:xfrm>
            <a:off x="6174846" y="1909763"/>
            <a:ext cx="5822948" cy="4367212"/>
          </a:xfrm>
        </p:spPr>
      </p:pic>
      <p:graphicFrame>
        <p:nvGraphicFramePr>
          <p:cNvPr id="7" name="Table 6">
            <a:extLst>
              <a:ext uri="{FF2B5EF4-FFF2-40B4-BE49-F238E27FC236}">
                <a16:creationId xmlns:a16="http://schemas.microsoft.com/office/drawing/2014/main" id="{4A76002D-CE0B-2A5D-7E98-6853F5E0C851}"/>
              </a:ext>
            </a:extLst>
          </p:cNvPr>
          <p:cNvGraphicFramePr>
            <a:graphicFrameLocks noGrp="1"/>
          </p:cNvGraphicFramePr>
          <p:nvPr>
            <p:extLst>
              <p:ext uri="{D42A27DB-BD31-4B8C-83A1-F6EECF244321}">
                <p14:modId xmlns:p14="http://schemas.microsoft.com/office/powerpoint/2010/main" val="368424602"/>
              </p:ext>
            </p:extLst>
          </p:nvPr>
        </p:nvGraphicFramePr>
        <p:xfrm>
          <a:off x="823580" y="4762007"/>
          <a:ext cx="4963581" cy="606675"/>
        </p:xfrm>
        <a:graphic>
          <a:graphicData uri="http://schemas.openxmlformats.org/drawingml/2006/table">
            <a:tbl>
              <a:tblPr firstRow="1" firstCol="1" bandRow="1">
                <a:tableStyleId>{69012ECD-51FC-41F1-AA8D-1B2483CD663E}</a:tableStyleId>
              </a:tblPr>
              <a:tblGrid>
                <a:gridCol w="2433374">
                  <a:extLst>
                    <a:ext uri="{9D8B030D-6E8A-4147-A177-3AD203B41FA5}">
                      <a16:colId xmlns:a16="http://schemas.microsoft.com/office/drawing/2014/main" val="1634778315"/>
                    </a:ext>
                  </a:extLst>
                </a:gridCol>
                <a:gridCol w="2530207">
                  <a:extLst>
                    <a:ext uri="{9D8B030D-6E8A-4147-A177-3AD203B41FA5}">
                      <a16:colId xmlns:a16="http://schemas.microsoft.com/office/drawing/2014/main" val="3562601875"/>
                    </a:ext>
                  </a:extLst>
                </a:gridCol>
              </a:tblGrid>
              <a:tr h="202225">
                <a:tc>
                  <a:txBody>
                    <a:bodyPr/>
                    <a:lstStyle/>
                    <a:p>
                      <a:pPr marL="0" marR="0">
                        <a:lnSpc>
                          <a:spcPct val="115000"/>
                        </a:lnSpc>
                        <a:spcAft>
                          <a:spcPts val="800"/>
                        </a:spcAft>
                        <a:buNone/>
                      </a:pPr>
                      <a:r>
                        <a:rPr lang="en-US" sz="1200" kern="100" dirty="0">
                          <a:solidFill>
                            <a:schemeClr val="tx1"/>
                          </a:solidFill>
                          <a:effectLst/>
                        </a:rPr>
                        <a:t>Lender A</a:t>
                      </a:r>
                      <a:endParaRPr lang="en-US" sz="12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tc>
                  <a:txBody>
                    <a:bodyPr/>
                    <a:lstStyle/>
                    <a:p>
                      <a:pPr marL="0" marR="0">
                        <a:lnSpc>
                          <a:spcPct val="115000"/>
                        </a:lnSpc>
                        <a:spcAft>
                          <a:spcPts val="800"/>
                        </a:spcAft>
                        <a:buNone/>
                      </a:pPr>
                      <a:r>
                        <a:rPr lang="en-US" sz="1200" kern="100" dirty="0">
                          <a:solidFill>
                            <a:schemeClr val="tx1"/>
                          </a:solidFill>
                          <a:effectLst/>
                        </a:rPr>
                        <a:t>0.17</a:t>
                      </a:r>
                      <a:endParaRPr lang="en-US" sz="12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extLst>
                  <a:ext uri="{0D108BD9-81ED-4DB2-BD59-A6C34878D82A}">
                    <a16:rowId xmlns:a16="http://schemas.microsoft.com/office/drawing/2014/main" val="2378321378"/>
                  </a:ext>
                </a:extLst>
              </a:tr>
              <a:tr h="202225">
                <a:tc>
                  <a:txBody>
                    <a:bodyPr/>
                    <a:lstStyle/>
                    <a:p>
                      <a:pPr marL="0" marR="0">
                        <a:lnSpc>
                          <a:spcPct val="115000"/>
                        </a:lnSpc>
                        <a:spcAft>
                          <a:spcPts val="800"/>
                        </a:spcAft>
                        <a:buNone/>
                      </a:pPr>
                      <a:r>
                        <a:rPr lang="en-US" sz="1200" kern="100">
                          <a:effectLst/>
                        </a:rPr>
                        <a:t>Lender B</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tc>
                  <a:txBody>
                    <a:bodyPr/>
                    <a:lstStyle/>
                    <a:p>
                      <a:pPr marL="0" marR="0">
                        <a:lnSpc>
                          <a:spcPct val="115000"/>
                        </a:lnSpc>
                        <a:spcAft>
                          <a:spcPts val="800"/>
                        </a:spcAft>
                        <a:buNone/>
                      </a:pPr>
                      <a:r>
                        <a:rPr lang="en-US" sz="1200" kern="100">
                          <a:effectLst/>
                        </a:rPr>
                        <a:t>0.11</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extLst>
                  <a:ext uri="{0D108BD9-81ED-4DB2-BD59-A6C34878D82A}">
                    <a16:rowId xmlns:a16="http://schemas.microsoft.com/office/drawing/2014/main" val="264259319"/>
                  </a:ext>
                </a:extLst>
              </a:tr>
              <a:tr h="202225">
                <a:tc>
                  <a:txBody>
                    <a:bodyPr/>
                    <a:lstStyle/>
                    <a:p>
                      <a:pPr marL="0" marR="0">
                        <a:lnSpc>
                          <a:spcPct val="115000"/>
                        </a:lnSpc>
                        <a:spcAft>
                          <a:spcPts val="800"/>
                        </a:spcAft>
                        <a:buNone/>
                      </a:pPr>
                      <a:r>
                        <a:rPr lang="en-US" sz="1200" kern="100" dirty="0">
                          <a:effectLst/>
                        </a:rPr>
                        <a:t>Lender C</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tc>
                  <a:txBody>
                    <a:bodyPr/>
                    <a:lstStyle/>
                    <a:p>
                      <a:pPr marL="0" marR="0">
                        <a:lnSpc>
                          <a:spcPct val="115000"/>
                        </a:lnSpc>
                        <a:spcAft>
                          <a:spcPts val="800"/>
                        </a:spcAft>
                        <a:buNone/>
                      </a:pPr>
                      <a:r>
                        <a:rPr lang="en-US" sz="1200" kern="100" dirty="0">
                          <a:effectLst/>
                        </a:rPr>
                        <a:t>0.07</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extLst>
                  <a:ext uri="{0D108BD9-81ED-4DB2-BD59-A6C34878D82A}">
                    <a16:rowId xmlns:a16="http://schemas.microsoft.com/office/drawing/2014/main" val="1228469860"/>
                  </a:ext>
                </a:extLst>
              </a:tr>
            </a:tbl>
          </a:graphicData>
        </a:graphic>
      </p:graphicFrame>
      <p:sp>
        <p:nvSpPr>
          <p:cNvPr id="8" name="TextBox 7">
            <a:extLst>
              <a:ext uri="{FF2B5EF4-FFF2-40B4-BE49-F238E27FC236}">
                <a16:creationId xmlns:a16="http://schemas.microsoft.com/office/drawing/2014/main" id="{461EA9B6-9577-29B7-043D-1E9F37E44F58}"/>
              </a:ext>
            </a:extLst>
          </p:cNvPr>
          <p:cNvSpPr txBox="1"/>
          <p:nvPr/>
        </p:nvSpPr>
        <p:spPr>
          <a:xfrm>
            <a:off x="708324" y="4093369"/>
            <a:ext cx="1937727" cy="646331"/>
          </a:xfrm>
          <a:prstGeom prst="rect">
            <a:avLst/>
          </a:prstGeom>
          <a:noFill/>
        </p:spPr>
        <p:txBody>
          <a:bodyPr wrap="square" rtlCol="0">
            <a:spAutoFit/>
          </a:bodyPr>
          <a:lstStyle/>
          <a:p>
            <a:r>
              <a:rPr lang="en-US" sz="1200" dirty="0">
                <a:solidFill>
                  <a:schemeClr val="bg1"/>
                </a:solidFill>
              </a:rPr>
              <a:t>Approximate Approval Rates By Lender in decimal format:</a:t>
            </a:r>
          </a:p>
        </p:txBody>
      </p:sp>
    </p:spTree>
    <p:extLst>
      <p:ext uri="{BB962C8B-B14F-4D97-AF65-F5344CB8AC3E}">
        <p14:creationId xmlns:p14="http://schemas.microsoft.com/office/powerpoint/2010/main" val="12151746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D660D92-D27B-1B8B-BF7F-CC766AB62278}"/>
              </a:ext>
            </a:extLst>
          </p:cNvPr>
          <p:cNvSpPr>
            <a:spLocks noGrp="1"/>
          </p:cNvSpPr>
          <p:nvPr>
            <p:ph type="title"/>
          </p:nvPr>
        </p:nvSpPr>
        <p:spPr/>
        <p:txBody>
          <a:bodyPr/>
          <a:lstStyle/>
          <a:p>
            <a:r>
              <a:rPr lang="en-US" dirty="0"/>
              <a:t>Observable Differences Between Lending Firms</a:t>
            </a:r>
          </a:p>
        </p:txBody>
      </p:sp>
      <p:sp>
        <p:nvSpPr>
          <p:cNvPr id="6" name="Content Placeholder 5">
            <a:extLst>
              <a:ext uri="{FF2B5EF4-FFF2-40B4-BE49-F238E27FC236}">
                <a16:creationId xmlns:a16="http://schemas.microsoft.com/office/drawing/2014/main" id="{8760DDAB-47D0-A179-FD8D-37D44F9B5ECA}"/>
              </a:ext>
            </a:extLst>
          </p:cNvPr>
          <p:cNvSpPr>
            <a:spLocks noGrp="1"/>
          </p:cNvSpPr>
          <p:nvPr>
            <p:ph idx="1"/>
          </p:nvPr>
        </p:nvSpPr>
        <p:spPr>
          <a:xfrm>
            <a:off x="-226741" y="2029045"/>
            <a:ext cx="3875288" cy="3332832"/>
          </a:xfrm>
        </p:spPr>
        <p:txBody>
          <a:bodyPr>
            <a:normAutofit fontScale="92500" lnSpcReduction="10000"/>
          </a:bodyPr>
          <a:lstStyle/>
          <a:p>
            <a:pPr lvl="1" indent="0">
              <a:buNone/>
            </a:pPr>
            <a:r>
              <a:rPr lang="en-US" sz="1800" b="1" dirty="0"/>
              <a:t>Firm A:</a:t>
            </a:r>
          </a:p>
          <a:p>
            <a:pPr marL="626364" lvl="1" indent="-342900"/>
            <a:r>
              <a:rPr lang="en-US" sz="1800" dirty="0"/>
              <a:t>Most Important Factors: FICO score, Housing Payment, Gross Amount, Loan Amount, Reason: Credit Card Refinancing</a:t>
            </a:r>
          </a:p>
          <a:p>
            <a:pPr marL="626364" lvl="1" indent="-342900"/>
            <a:r>
              <a:rPr lang="en-US" sz="1800" dirty="0"/>
              <a:t>Lenient Approval Rate</a:t>
            </a:r>
          </a:p>
          <a:p>
            <a:pPr marL="626364" lvl="1" indent="-342900"/>
            <a:r>
              <a:rPr lang="en-US" sz="1800" dirty="0"/>
              <a:t>Lowest Average FICO Score Rate (625.501)</a:t>
            </a:r>
          </a:p>
          <a:p>
            <a:pPr marL="626364" lvl="1" indent="-342900"/>
            <a:r>
              <a:rPr lang="en-US" sz="1800" b="1" dirty="0"/>
              <a:t>Ideal for applicants with suboptimal credit, especially those looking for Credit Card Refinancing</a:t>
            </a:r>
          </a:p>
          <a:p>
            <a:pPr marL="626364" lvl="1" indent="-342900"/>
            <a:endParaRPr lang="en-US" dirty="0"/>
          </a:p>
          <a:p>
            <a:pPr marL="626364" lvl="1" indent="-342900"/>
            <a:endParaRPr lang="en-US" dirty="0"/>
          </a:p>
        </p:txBody>
      </p:sp>
      <p:sp>
        <p:nvSpPr>
          <p:cNvPr id="7" name="Content Placeholder 6">
            <a:extLst>
              <a:ext uri="{FF2B5EF4-FFF2-40B4-BE49-F238E27FC236}">
                <a16:creationId xmlns:a16="http://schemas.microsoft.com/office/drawing/2014/main" id="{3B58C78F-DD09-8AB5-B1C1-2546451B9C80}"/>
              </a:ext>
            </a:extLst>
          </p:cNvPr>
          <p:cNvSpPr>
            <a:spLocks noGrp="1"/>
          </p:cNvSpPr>
          <p:nvPr>
            <p:ph idx="10"/>
          </p:nvPr>
        </p:nvSpPr>
        <p:spPr>
          <a:xfrm>
            <a:off x="3648547" y="2029045"/>
            <a:ext cx="3150476" cy="3332832"/>
          </a:xfrm>
        </p:spPr>
        <p:txBody>
          <a:bodyPr>
            <a:normAutofit fontScale="92500" lnSpcReduction="20000"/>
          </a:bodyPr>
          <a:lstStyle/>
          <a:p>
            <a:r>
              <a:rPr lang="en-US" sz="1800" b="1" dirty="0"/>
              <a:t>Firm B:</a:t>
            </a:r>
          </a:p>
          <a:p>
            <a:pPr marL="342900" indent="-342900">
              <a:buFont typeface="Arial" panose="020B0604020202020204" pitchFamily="34" charset="0"/>
              <a:buChar char="•"/>
            </a:pPr>
            <a:r>
              <a:rPr lang="en-US" sz="1800" dirty="0"/>
              <a:t>Most Important Factors: Monthly Housing Payment, Monthly Gross Income, FICO Score, Loan Amount</a:t>
            </a:r>
          </a:p>
          <a:p>
            <a:pPr marL="342900" indent="-342900">
              <a:buFont typeface="Arial" panose="020B0604020202020204" pitchFamily="34" charset="0"/>
              <a:buChar char="•"/>
            </a:pPr>
            <a:r>
              <a:rPr lang="en-US" sz="1800" dirty="0"/>
              <a:t>Has a high correlation with applicants in FICO’s “very good” range of scores.</a:t>
            </a:r>
          </a:p>
          <a:p>
            <a:pPr marL="342900" indent="-342900">
              <a:buFont typeface="Arial" panose="020B0604020202020204" pitchFamily="34" charset="0"/>
              <a:buChar char="•"/>
            </a:pPr>
            <a:r>
              <a:rPr lang="en-US" sz="1800" dirty="0"/>
              <a:t>Lowest Unemployment rate conditional on approval (0.018)</a:t>
            </a:r>
          </a:p>
          <a:p>
            <a:pPr marL="342900" indent="-342900">
              <a:buFont typeface="Arial" panose="020B0604020202020204" pitchFamily="34" charset="0"/>
              <a:buChar char="•"/>
            </a:pPr>
            <a:r>
              <a:rPr lang="en-US" sz="1800" b="1" dirty="0"/>
              <a:t>Ideal for applicants with steady employment and a “very good” FICO score</a:t>
            </a:r>
          </a:p>
        </p:txBody>
      </p:sp>
      <p:sp>
        <p:nvSpPr>
          <p:cNvPr id="8" name="Content Placeholder 6">
            <a:extLst>
              <a:ext uri="{FF2B5EF4-FFF2-40B4-BE49-F238E27FC236}">
                <a16:creationId xmlns:a16="http://schemas.microsoft.com/office/drawing/2014/main" id="{2C332357-DF39-F710-4227-0C9DD1752595}"/>
              </a:ext>
            </a:extLst>
          </p:cNvPr>
          <p:cNvSpPr txBox="1">
            <a:spLocks/>
          </p:cNvSpPr>
          <p:nvPr/>
        </p:nvSpPr>
        <p:spPr>
          <a:xfrm>
            <a:off x="6799023" y="2029045"/>
            <a:ext cx="3232217" cy="3332832"/>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n-lt"/>
                <a:ea typeface="+mn-ea"/>
                <a:cs typeface="+mn-cs"/>
              </a:defRPr>
            </a:lvl1pPr>
            <a:lvl2pPr marL="283464" indent="-283464"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2pPr>
            <a:lvl3pPr marL="566928" indent="-283464"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3pPr>
            <a:lvl4pPr marL="850392" indent="-283464"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4pPr>
            <a:lvl5pPr marL="1133856" indent="-283464"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700" b="1" dirty="0"/>
              <a:t>Firm C:</a:t>
            </a:r>
          </a:p>
          <a:p>
            <a:pPr marL="342900" indent="-342900">
              <a:buFont typeface="Arial" panose="020B0604020202020204" pitchFamily="34" charset="0"/>
              <a:buChar char="•"/>
            </a:pPr>
            <a:r>
              <a:rPr lang="en-US" sz="1700" dirty="0"/>
              <a:t>Most Important Factors: FICO score, Monthly Gross Income, Monthly Housing Payment, Loan Amount</a:t>
            </a:r>
          </a:p>
          <a:p>
            <a:pPr marL="342900" indent="-342900">
              <a:buFont typeface="Arial" panose="020B0604020202020204" pitchFamily="34" charset="0"/>
              <a:buChar char="•"/>
            </a:pPr>
            <a:r>
              <a:rPr lang="en-US" sz="1700" dirty="0"/>
              <a:t>Has a high correlation with applicants in FICO’s “very good” range of scores.</a:t>
            </a:r>
          </a:p>
          <a:p>
            <a:pPr marL="342900" indent="-342900">
              <a:buFont typeface="Arial" panose="020B0604020202020204" pitchFamily="34" charset="0"/>
              <a:buChar char="•"/>
            </a:pPr>
            <a:r>
              <a:rPr lang="en-US" sz="1700" dirty="0"/>
              <a:t>Lowest Approval Rate</a:t>
            </a:r>
          </a:p>
          <a:p>
            <a:pPr marL="342900" indent="-342900">
              <a:buFont typeface="Arial" panose="020B0604020202020204" pitchFamily="34" charset="0"/>
              <a:buChar char="•"/>
            </a:pPr>
            <a:r>
              <a:rPr lang="en-US" sz="1700" b="1" dirty="0"/>
              <a:t>High bounty with low approval rate, good sell to incredibly qualified applicants</a:t>
            </a:r>
          </a:p>
          <a:p>
            <a:pPr marL="342900" indent="-342900">
              <a:buFont typeface="Arial" panose="020B0604020202020204" pitchFamily="34" charset="0"/>
              <a:buChar char="•"/>
            </a:pPr>
            <a:endParaRPr lang="en-US" sz="1700" dirty="0"/>
          </a:p>
        </p:txBody>
      </p:sp>
      <p:sp>
        <p:nvSpPr>
          <p:cNvPr id="9" name="TextBox 8">
            <a:extLst>
              <a:ext uri="{FF2B5EF4-FFF2-40B4-BE49-F238E27FC236}">
                <a16:creationId xmlns:a16="http://schemas.microsoft.com/office/drawing/2014/main" id="{F39D2344-2689-AA3C-716A-3F59346862AD}"/>
              </a:ext>
            </a:extLst>
          </p:cNvPr>
          <p:cNvSpPr txBox="1"/>
          <p:nvPr/>
        </p:nvSpPr>
        <p:spPr>
          <a:xfrm>
            <a:off x="318380" y="5982810"/>
            <a:ext cx="4805882" cy="738664"/>
          </a:xfrm>
          <a:prstGeom prst="rect">
            <a:avLst/>
          </a:prstGeom>
          <a:noFill/>
        </p:spPr>
        <p:txBody>
          <a:bodyPr wrap="square" rtlCol="0">
            <a:spAutoFit/>
          </a:bodyPr>
          <a:lstStyle/>
          <a:p>
            <a:r>
              <a:rPr lang="en-US" sz="1400" dirty="0"/>
              <a:t>*Most Important Factors-Factors with the highest feature importance for the random forest model run on each firm’s data</a:t>
            </a:r>
          </a:p>
        </p:txBody>
      </p:sp>
    </p:spTree>
    <p:extLst>
      <p:ext uri="{BB962C8B-B14F-4D97-AF65-F5344CB8AC3E}">
        <p14:creationId xmlns:p14="http://schemas.microsoft.com/office/powerpoint/2010/main" val="19812854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A2F028C-B8B1-D4A4-C377-63AB3B8AB2EA}"/>
              </a:ext>
            </a:extLst>
          </p:cNvPr>
          <p:cNvSpPr>
            <a:spLocks noGrp="1"/>
          </p:cNvSpPr>
          <p:nvPr>
            <p:ph type="title"/>
          </p:nvPr>
        </p:nvSpPr>
        <p:spPr/>
        <p:txBody>
          <a:bodyPr/>
          <a:lstStyle/>
          <a:p>
            <a:r>
              <a:rPr lang="en-US" dirty="0"/>
              <a:t>Incrementing Revenue Through Customer Filtering</a:t>
            </a:r>
          </a:p>
        </p:txBody>
      </p:sp>
      <p:sp>
        <p:nvSpPr>
          <p:cNvPr id="6" name="Content Placeholder 5">
            <a:extLst>
              <a:ext uri="{FF2B5EF4-FFF2-40B4-BE49-F238E27FC236}">
                <a16:creationId xmlns:a16="http://schemas.microsoft.com/office/drawing/2014/main" id="{223E2989-E0AF-2308-03C4-354ED58412F4}"/>
              </a:ext>
            </a:extLst>
          </p:cNvPr>
          <p:cNvSpPr>
            <a:spLocks noGrp="1"/>
          </p:cNvSpPr>
          <p:nvPr>
            <p:ph idx="14"/>
          </p:nvPr>
        </p:nvSpPr>
        <p:spPr/>
        <p:txBody>
          <a:bodyPr/>
          <a:lstStyle/>
          <a:p>
            <a:pPr marL="59436" indent="0">
              <a:buNone/>
            </a:pPr>
            <a:r>
              <a:rPr lang="en-US" dirty="0"/>
              <a:t>Fundamental Problem: There exists a mismatch between customers and lenders when an applicant applies to a firm for a loan without being properly matched. Applicants could be applying to firms for which they are underqualified, in which case no bounty is collected, or they could be applying to firms in which they are overqualified, for example, an applicant applies to A when they could have received a loan from C, in which case there is a significant bounty reduction. </a:t>
            </a:r>
          </a:p>
          <a:p>
            <a:pPr marL="59436" indent="0">
              <a:buNone/>
            </a:pPr>
            <a:r>
              <a:rPr lang="en-US" dirty="0"/>
              <a:t>Solution: Create a statistical model that can accurately assign customers to the best firm based on the probability that they get the loan, weighted by the bounty on the loan.</a:t>
            </a:r>
          </a:p>
        </p:txBody>
      </p:sp>
    </p:spTree>
    <p:extLst>
      <p:ext uri="{BB962C8B-B14F-4D97-AF65-F5344CB8AC3E}">
        <p14:creationId xmlns:p14="http://schemas.microsoft.com/office/powerpoint/2010/main" val="1787248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3F6D2-F5B3-179A-F965-F037B8ED68A7}"/>
              </a:ext>
            </a:extLst>
          </p:cNvPr>
          <p:cNvSpPr>
            <a:spLocks noGrp="1"/>
          </p:cNvSpPr>
          <p:nvPr>
            <p:ph type="title"/>
          </p:nvPr>
        </p:nvSpPr>
        <p:spPr/>
        <p:txBody>
          <a:bodyPr/>
          <a:lstStyle/>
          <a:p>
            <a:r>
              <a:rPr lang="en-US" dirty="0"/>
              <a:t>The Solution</a:t>
            </a:r>
          </a:p>
        </p:txBody>
      </p:sp>
      <p:sp>
        <p:nvSpPr>
          <p:cNvPr id="3" name="Content Placeholder 2">
            <a:extLst>
              <a:ext uri="{FF2B5EF4-FFF2-40B4-BE49-F238E27FC236}">
                <a16:creationId xmlns:a16="http://schemas.microsoft.com/office/drawing/2014/main" id="{34204B37-6D08-7CA7-D0B1-18A79DE60F85}"/>
              </a:ext>
            </a:extLst>
          </p:cNvPr>
          <p:cNvSpPr>
            <a:spLocks noGrp="1"/>
          </p:cNvSpPr>
          <p:nvPr>
            <p:ph idx="1"/>
          </p:nvPr>
        </p:nvSpPr>
        <p:spPr/>
        <p:txBody>
          <a:bodyPr>
            <a:normAutofit lnSpcReduction="10000"/>
          </a:bodyPr>
          <a:lstStyle/>
          <a:p>
            <a:pPr marL="457200" indent="-457200">
              <a:buFont typeface="Arial" panose="020B0604020202020204" pitchFamily="34" charset="0"/>
              <a:buChar char="•"/>
            </a:pPr>
            <a:r>
              <a:rPr lang="en-US" sz="1800" dirty="0"/>
              <a:t>The large advantage here is the amount and quality of data collected, which lends itself well to statistical modeling using a logistic regression</a:t>
            </a:r>
          </a:p>
          <a:p>
            <a:pPr marL="457200" indent="-457200">
              <a:buFont typeface="Arial" panose="020B0604020202020204" pitchFamily="34" charset="0"/>
              <a:buChar char="•"/>
            </a:pPr>
            <a:r>
              <a:rPr lang="en-US" sz="1800" dirty="0"/>
              <a:t>Logistic Regression: A statistical model that uses data points to create a probability distribution curve, which can be used to predict outcomes</a:t>
            </a:r>
          </a:p>
          <a:p>
            <a:pPr marL="914400" lvl="1" indent="-457200">
              <a:buFont typeface="Arial" panose="020B0604020202020204" pitchFamily="34" charset="0"/>
              <a:buChar char="•"/>
            </a:pPr>
            <a:r>
              <a:rPr lang="en-US" sz="1400" dirty="0"/>
              <a:t>We cannot predict with perfect accuracy the approval rate of a singular customer, but we can predict, on average, the approval rate of customers like that customer. Given that we have 100,000 observations, this prediction can become incredibly accurate</a:t>
            </a:r>
          </a:p>
          <a:p>
            <a:pPr marL="457200" indent="-457200">
              <a:buFont typeface="Arial" panose="020B0604020202020204" pitchFamily="34" charset="0"/>
              <a:buChar char="•"/>
            </a:pPr>
            <a:r>
              <a:rPr lang="en-US" sz="1800" dirty="0"/>
              <a:t>How it works:</a:t>
            </a:r>
          </a:p>
          <a:p>
            <a:pPr marL="914400" lvl="1" indent="-457200">
              <a:buFont typeface="Arial" panose="020B0604020202020204" pitchFamily="34" charset="0"/>
              <a:buChar char="•"/>
            </a:pPr>
            <a:r>
              <a:rPr lang="en-US" sz="1400" dirty="0"/>
              <a:t>Train a model based on approval data from each lender: this outputs coefficients which can be used to predict any given customer’s acceptance rate for that lender</a:t>
            </a:r>
          </a:p>
          <a:p>
            <a:pPr marL="914400" lvl="1" indent="-457200">
              <a:buFont typeface="Arial" panose="020B0604020202020204" pitchFamily="34" charset="0"/>
              <a:buChar char="•"/>
            </a:pPr>
            <a:r>
              <a:rPr lang="en-US" sz="1400" dirty="0"/>
              <a:t>For each customer in the dataset, determine the most profitable lender. This is done using the following calculation, as bounties differ between lenders: The probability that a given customer is approved for a loan with a given firm multiplied by the bounty for that firm. This becomes an expected value, which we can back-test to determine the profitability of this strategy.</a:t>
            </a:r>
          </a:p>
          <a:p>
            <a:pPr marL="914400" lvl="1" indent="-457200">
              <a:buFont typeface="Arial" panose="020B0604020202020204" pitchFamily="34" charset="0"/>
              <a:buChar char="•"/>
            </a:pPr>
            <a:endParaRPr lang="en-US" sz="1400" dirty="0"/>
          </a:p>
        </p:txBody>
      </p:sp>
    </p:spTree>
    <p:extLst>
      <p:ext uri="{BB962C8B-B14F-4D97-AF65-F5344CB8AC3E}">
        <p14:creationId xmlns:p14="http://schemas.microsoft.com/office/powerpoint/2010/main" val="28225028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F292E-FDCF-AFBA-6BAB-7DE86377C538}"/>
              </a:ext>
            </a:extLst>
          </p:cNvPr>
          <p:cNvSpPr>
            <a:spLocks noGrp="1"/>
          </p:cNvSpPr>
          <p:nvPr>
            <p:ph type="title"/>
          </p:nvPr>
        </p:nvSpPr>
        <p:spPr/>
        <p:txBody>
          <a:bodyPr/>
          <a:lstStyle/>
          <a:p>
            <a:r>
              <a:rPr lang="en-US" dirty="0"/>
              <a:t>Outputs and Advantages for this Strategy</a:t>
            </a:r>
          </a:p>
        </p:txBody>
      </p:sp>
      <p:sp>
        <p:nvSpPr>
          <p:cNvPr id="3" name="Content Placeholder 2">
            <a:extLst>
              <a:ext uri="{FF2B5EF4-FFF2-40B4-BE49-F238E27FC236}">
                <a16:creationId xmlns:a16="http://schemas.microsoft.com/office/drawing/2014/main" id="{C79182F7-2237-A486-5D99-0941C2AA06F5}"/>
              </a:ext>
            </a:extLst>
          </p:cNvPr>
          <p:cNvSpPr>
            <a:spLocks noGrp="1"/>
          </p:cNvSpPr>
          <p:nvPr>
            <p:ph idx="11"/>
          </p:nvPr>
        </p:nvSpPr>
        <p:spPr/>
        <p:txBody>
          <a:bodyPr>
            <a:normAutofit fontScale="77500" lnSpcReduction="20000"/>
          </a:bodyPr>
          <a:lstStyle/>
          <a:p>
            <a:pPr marL="457200" indent="-457200">
              <a:buFont typeface="Arial" panose="020B0604020202020204" pitchFamily="34" charset="0"/>
              <a:buChar char="•"/>
            </a:pPr>
            <a:r>
              <a:rPr lang="en-US" dirty="0"/>
              <a:t>Back testing the model provided an increase of </a:t>
            </a:r>
            <a:r>
              <a:rPr lang="en-US" b="1" dirty="0"/>
              <a:t>$922,610.1 in expected revenue</a:t>
            </a:r>
            <a:r>
              <a:rPr lang="en-US" dirty="0"/>
              <a:t>, which represents a roughly </a:t>
            </a:r>
            <a:r>
              <a:rPr lang="en-US" b="1" dirty="0"/>
              <a:t>35% </a:t>
            </a:r>
            <a:r>
              <a:rPr lang="en-US" dirty="0"/>
              <a:t>increase from the current amount of $2,642,200</a:t>
            </a:r>
          </a:p>
          <a:p>
            <a:pPr marL="681228" lvl="1" indent="-457200"/>
            <a:r>
              <a:rPr lang="en-US" dirty="0"/>
              <a:t>Back testing strategy completed by subtracting the current bounty from the expected bounty using the group assignment from the regression</a:t>
            </a:r>
          </a:p>
          <a:p>
            <a:pPr marL="457200" indent="-457200">
              <a:buFont typeface="Arial" panose="020B0604020202020204" pitchFamily="34" charset="0"/>
              <a:buChar char="•"/>
            </a:pPr>
            <a:r>
              <a:rPr lang="en-US" dirty="0"/>
              <a:t>Advantages</a:t>
            </a:r>
          </a:p>
          <a:p>
            <a:pPr marL="914400" lvl="1" indent="-457200">
              <a:buFont typeface="Arial" panose="020B0604020202020204" pitchFamily="34" charset="0"/>
              <a:buChar char="•"/>
            </a:pPr>
            <a:r>
              <a:rPr lang="en-US" dirty="0"/>
              <a:t>Completely automated, customers can be fitted into lender groups in real time</a:t>
            </a:r>
          </a:p>
          <a:p>
            <a:pPr marL="914400" lvl="1" indent="-457200">
              <a:buFont typeface="Arial" panose="020B0604020202020204" pitchFamily="34" charset="0"/>
              <a:buChar char="•"/>
            </a:pPr>
            <a:r>
              <a:rPr lang="en-US" dirty="0"/>
              <a:t>More data, as customers use this model, the additional data can be used to better refine the model</a:t>
            </a:r>
          </a:p>
        </p:txBody>
      </p:sp>
      <p:graphicFrame>
        <p:nvGraphicFramePr>
          <p:cNvPr id="4" name="Chart 3">
            <a:extLst>
              <a:ext uri="{FF2B5EF4-FFF2-40B4-BE49-F238E27FC236}">
                <a16:creationId xmlns:a16="http://schemas.microsoft.com/office/drawing/2014/main" id="{071DCAB6-714D-0094-8C64-1934857ED9BC}"/>
              </a:ext>
            </a:extLst>
          </p:cNvPr>
          <p:cNvGraphicFramePr>
            <a:graphicFrameLocks/>
          </p:cNvGraphicFramePr>
          <p:nvPr>
            <p:extLst>
              <p:ext uri="{D42A27DB-BD31-4B8C-83A1-F6EECF244321}">
                <p14:modId xmlns:p14="http://schemas.microsoft.com/office/powerpoint/2010/main" val="3461927855"/>
              </p:ext>
            </p:extLst>
          </p:nvPr>
        </p:nvGraphicFramePr>
        <p:xfrm>
          <a:off x="1067405" y="1947673"/>
          <a:ext cx="4841361" cy="325807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3380882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D4694A-7826-225D-9063-A58520619A94}"/>
              </a:ext>
            </a:extLst>
          </p:cNvPr>
          <p:cNvSpPr>
            <a:spLocks noGrp="1"/>
          </p:cNvSpPr>
          <p:nvPr>
            <p:ph type="title"/>
          </p:nvPr>
        </p:nvSpPr>
        <p:spPr/>
        <p:txBody>
          <a:bodyPr/>
          <a:lstStyle/>
          <a:p>
            <a:r>
              <a:rPr lang="en-US" dirty="0"/>
              <a:t>Final Considerations</a:t>
            </a:r>
          </a:p>
        </p:txBody>
      </p:sp>
      <p:sp>
        <p:nvSpPr>
          <p:cNvPr id="3" name="Content Placeholder 2">
            <a:extLst>
              <a:ext uri="{FF2B5EF4-FFF2-40B4-BE49-F238E27FC236}">
                <a16:creationId xmlns:a16="http://schemas.microsoft.com/office/drawing/2014/main" id="{599FCCC7-06BA-1C5F-0B5D-522381ADAE63}"/>
              </a:ext>
            </a:extLst>
          </p:cNvPr>
          <p:cNvSpPr>
            <a:spLocks noGrp="1"/>
          </p:cNvSpPr>
          <p:nvPr>
            <p:ph idx="1"/>
          </p:nvPr>
        </p:nvSpPr>
        <p:spPr/>
        <p:txBody>
          <a:bodyPr/>
          <a:lstStyle/>
          <a:p>
            <a:pPr marL="457200" indent="-457200">
              <a:buFont typeface="Arial" panose="020B0604020202020204" pitchFamily="34" charset="0"/>
              <a:buChar char="•"/>
            </a:pPr>
            <a:r>
              <a:rPr lang="en-US" dirty="0"/>
              <a:t>Look into the bounty system, if we find that more customers are being matched with specific lenders perhaps, we contact the other lenders and see if they are willing to provide larger incentives in exchange for more business</a:t>
            </a:r>
          </a:p>
          <a:p>
            <a:pPr marL="457200" indent="-457200">
              <a:buFont typeface="Arial" panose="020B0604020202020204" pitchFamily="34" charset="0"/>
              <a:buChar char="•"/>
            </a:pPr>
            <a:r>
              <a:rPr lang="en-US" dirty="0"/>
              <a:t>Implement a recommendation system for customers who were denied approval, recommending the next highest expected revenue lending firm</a:t>
            </a:r>
          </a:p>
          <a:p>
            <a:pPr marL="457200" indent="-457200">
              <a:buFont typeface="Arial" panose="020B0604020202020204" pitchFamily="34" charset="0"/>
              <a:buChar char="•"/>
            </a:pPr>
            <a:endParaRPr lang="en-US" dirty="0"/>
          </a:p>
        </p:txBody>
      </p:sp>
    </p:spTree>
    <p:extLst>
      <p:ext uri="{BB962C8B-B14F-4D97-AF65-F5344CB8AC3E}">
        <p14:creationId xmlns:p14="http://schemas.microsoft.com/office/powerpoint/2010/main" val="3088517390"/>
      </p:ext>
    </p:extLst>
  </p:cSld>
  <p:clrMapOvr>
    <a:masterClrMapping/>
  </p:clrMapOvr>
</p:sld>
</file>

<file path=ppt/theme/theme1.xml><?xml version="1.0" encoding="utf-8"?>
<a:theme xmlns:a="http://schemas.openxmlformats.org/drawingml/2006/main" name="Custom">
  <a:themeElements>
    <a:clrScheme name="Universal Color Block">
      <a:dk1>
        <a:srgbClr val="000000"/>
      </a:dk1>
      <a:lt1>
        <a:srgbClr val="FFFFFF"/>
      </a:lt1>
      <a:dk2>
        <a:srgbClr val="44546A"/>
      </a:dk2>
      <a:lt2>
        <a:srgbClr val="E7E6E6"/>
      </a:lt2>
      <a:accent1>
        <a:srgbClr val="0068FF"/>
      </a:accent1>
      <a:accent2>
        <a:srgbClr val="DAE5EF"/>
      </a:accent2>
      <a:accent3>
        <a:srgbClr val="637183"/>
      </a:accent3>
      <a:accent4>
        <a:srgbClr val="434E5E"/>
      </a:accent4>
      <a:accent5>
        <a:srgbClr val="5B9BD5"/>
      </a:accent5>
      <a:accent6>
        <a:srgbClr val="70AD47"/>
      </a:accent6>
      <a:hlink>
        <a:srgbClr val="0563C1"/>
      </a:hlink>
      <a:folHlink>
        <a:srgbClr val="954F72"/>
      </a:folHlink>
    </a:clrScheme>
    <a:fontScheme name="Custom 75">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45331398_Win32_SL_V13" id="{C59E605D-C281-4A06-BDA0-E97A35AC3AA8}" vid="{25D1D206-DA25-4050-926A-BD6D3A1B506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45A8381C-73EB-48EA-B45F-7B7C8C7DF409}">
  <ds:schemaRefs>
    <ds:schemaRef ds:uri="http://schemas.microsoft.com/sharepoint/v3/contenttype/forms"/>
  </ds:schemaRefs>
</ds:datastoreItem>
</file>

<file path=customXml/itemProps2.xml><?xml version="1.0" encoding="utf-8"?>
<ds:datastoreItem xmlns:ds="http://schemas.openxmlformats.org/officeDocument/2006/customXml" ds:itemID="{5AA6A711-2C3F-4EC0-B88B-62D74085117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1E98C35-9ECE-4425-BCBA-00E118C705CE}">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{D5DE68EA-D8DD-40EF-99B2-3CCB3F5A43F3}TF0e83fa2d-9a66-4e5e-9e82-acc620be7a498e277179_win32-f234380521c6</Template>
  <TotalTime>130</TotalTime>
  <Words>1130</Words>
  <Application>Microsoft Office PowerPoint</Application>
  <PresentationFormat>Widescreen</PresentationFormat>
  <Paragraphs>86</Paragraphs>
  <Slides>12</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Arial</vt:lpstr>
      <vt:lpstr>Calibri</vt:lpstr>
      <vt:lpstr>Tenorite</vt:lpstr>
      <vt:lpstr>Custom</vt:lpstr>
      <vt:lpstr>Personal Loans Case Red Ventures Interview</vt:lpstr>
      <vt:lpstr>Goals</vt:lpstr>
      <vt:lpstr>Core Variable relationship with Approvability</vt:lpstr>
      <vt:lpstr>Other Variable Relationships with Approvability</vt:lpstr>
      <vt:lpstr>Determinants of Approvability Quantified</vt:lpstr>
      <vt:lpstr>Conclusions Regarding Variable Approvability</vt:lpstr>
      <vt:lpstr>Differences between the Preferences of Lending Firms</vt:lpstr>
      <vt:lpstr>Observable Differences Between Lending Firms</vt:lpstr>
      <vt:lpstr>Incrementing Revenue Through Customer Filtering</vt:lpstr>
      <vt:lpstr>The Solution</vt:lpstr>
      <vt:lpstr>Outputs and Advantages for this Strategy</vt:lpstr>
      <vt:lpstr>Final Considerations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 Pietro, Michael A.</dc:creator>
  <cp:lastModifiedBy>San Pietro, Michael A.</cp:lastModifiedBy>
  <cp:revision>1</cp:revision>
  <dcterms:created xsi:type="dcterms:W3CDTF">2026-01-20T19:39:56Z</dcterms:created>
  <dcterms:modified xsi:type="dcterms:W3CDTF">2026-01-20T21:50:42Z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